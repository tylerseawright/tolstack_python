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74" r:id="rId17"/>
    <p:sldId id="268" r:id="rId18"/>
    <p:sldId id="275" r:id="rId19"/>
    <p:sldId id="269" r:id="rId20"/>
    <p:sldId id="270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38B1CC-038C-4B02-A383-EDE63C6BAF23}" v="51" dt="2025-07-15T04:25:00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010" autoAdjust="0"/>
  </p:normalViewPr>
  <p:slideViewPr>
    <p:cSldViewPr snapToGrid="0">
      <p:cViewPr varScale="1">
        <p:scale>
          <a:sx n="98" d="100"/>
          <a:sy n="98" d="100"/>
        </p:scale>
        <p:origin x="10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8738B1CC-038C-4B02-A383-EDE63C6BAF23}"/>
    <pc:docChg chg="undo custSel addSld delSld modSld">
      <pc:chgData name="Seawright, Tyler" userId="0d679dc6-d022-4613-aaa8-d4a403513003" providerId="ADAL" clId="{8738B1CC-038C-4B02-A383-EDE63C6BAF23}" dt="2025-07-15T04:25:19.525" v="984" actId="20577"/>
      <pc:docMkLst>
        <pc:docMk/>
      </pc:docMkLst>
      <pc:sldChg chg="modSp mod">
        <pc:chgData name="Seawright, Tyler" userId="0d679dc6-d022-4613-aaa8-d4a403513003" providerId="ADAL" clId="{8738B1CC-038C-4B02-A383-EDE63C6BAF23}" dt="2025-07-15T04:12:36.635" v="57" actId="14100"/>
        <pc:sldMkLst>
          <pc:docMk/>
          <pc:sldMk cId="3656947501" sldId="259"/>
        </pc:sldMkLst>
        <pc:spChg chg="mod">
          <ac:chgData name="Seawright, Tyler" userId="0d679dc6-d022-4613-aaa8-d4a403513003" providerId="ADAL" clId="{8738B1CC-038C-4B02-A383-EDE63C6BAF23}" dt="2025-07-15T04:12:36.635" v="57" actId="14100"/>
          <ac:spMkLst>
            <pc:docMk/>
            <pc:sldMk cId="3656947501" sldId="259"/>
            <ac:spMk id="4" creationId="{8124A2CC-3C33-D33E-1C64-836FF8A92A27}"/>
          </ac:spMkLst>
        </pc:spChg>
      </pc:sldChg>
      <pc:sldChg chg="addSp modSp mod">
        <pc:chgData name="Seawright, Tyler" userId="0d679dc6-d022-4613-aaa8-d4a403513003" providerId="ADAL" clId="{8738B1CC-038C-4B02-A383-EDE63C6BAF23}" dt="2025-07-15T04:16:00.043" v="110" actId="1076"/>
        <pc:sldMkLst>
          <pc:docMk/>
          <pc:sldMk cId="3453121262" sldId="260"/>
        </pc:sldMkLst>
        <pc:spChg chg="add mod">
          <ac:chgData name="Seawright, Tyler" userId="0d679dc6-d022-4613-aaa8-d4a403513003" providerId="ADAL" clId="{8738B1CC-038C-4B02-A383-EDE63C6BAF23}" dt="2025-07-15T04:15:26.934" v="93" actId="1076"/>
          <ac:spMkLst>
            <pc:docMk/>
            <pc:sldMk cId="3453121262" sldId="260"/>
            <ac:spMk id="6" creationId="{98D95734-D60E-F53B-4F64-1A2B5EC10713}"/>
          </ac:spMkLst>
        </pc:spChg>
        <pc:spChg chg="add mod">
          <ac:chgData name="Seawright, Tyler" userId="0d679dc6-d022-4613-aaa8-d4a403513003" providerId="ADAL" clId="{8738B1CC-038C-4B02-A383-EDE63C6BAF23}" dt="2025-07-15T04:16:00.043" v="110" actId="1076"/>
          <ac:spMkLst>
            <pc:docMk/>
            <pc:sldMk cId="3453121262" sldId="260"/>
            <ac:spMk id="11" creationId="{B08836E4-DE6E-31C6-39FF-A73AA3AAE297}"/>
          </ac:spMkLst>
        </pc:spChg>
        <pc:cxnChg chg="add mod">
          <ac:chgData name="Seawright, Tyler" userId="0d679dc6-d022-4613-aaa8-d4a403513003" providerId="ADAL" clId="{8738B1CC-038C-4B02-A383-EDE63C6BAF23}" dt="2025-07-15T04:15:26.934" v="93" actId="1076"/>
          <ac:cxnSpMkLst>
            <pc:docMk/>
            <pc:sldMk cId="3453121262" sldId="260"/>
            <ac:cxnSpMk id="7" creationId="{051142D8-DF4C-B0C8-C502-35C55E5A6560}"/>
          </ac:cxnSpMkLst>
        </pc:cxnChg>
      </pc:sldChg>
      <pc:sldChg chg="addSp delSp modSp mod">
        <pc:chgData name="Seawright, Tyler" userId="0d679dc6-d022-4613-aaa8-d4a403513003" providerId="ADAL" clId="{8738B1CC-038C-4B02-A383-EDE63C6BAF23}" dt="2025-07-15T04:17:00.401" v="128" actId="1076"/>
        <pc:sldMkLst>
          <pc:docMk/>
          <pc:sldMk cId="2934132426" sldId="261"/>
        </pc:sldMkLst>
        <pc:spChg chg="mod">
          <ac:chgData name="Seawright, Tyler" userId="0d679dc6-d022-4613-aaa8-d4a403513003" providerId="ADAL" clId="{8738B1CC-038C-4B02-A383-EDE63C6BAF23}" dt="2025-07-15T04:16:42.456" v="122" actId="1076"/>
          <ac:spMkLst>
            <pc:docMk/>
            <pc:sldMk cId="2934132426" sldId="261"/>
            <ac:spMk id="3" creationId="{D81DE73D-FBFC-2F82-C2A4-C7E5C2FEA151}"/>
          </ac:spMkLst>
        </pc:spChg>
        <pc:spChg chg="mod">
          <ac:chgData name="Seawright, Tyler" userId="0d679dc6-d022-4613-aaa8-d4a403513003" providerId="ADAL" clId="{8738B1CC-038C-4B02-A383-EDE63C6BAF23}" dt="2025-07-15T04:16:23.222" v="116" actId="1076"/>
          <ac:spMkLst>
            <pc:docMk/>
            <pc:sldMk cId="2934132426" sldId="261"/>
            <ac:spMk id="4" creationId="{D0BEEB85-BFF0-D247-F886-4B84D3F9101D}"/>
          </ac:spMkLst>
        </pc:spChg>
        <pc:spChg chg="add del mod">
          <ac:chgData name="Seawright, Tyler" userId="0d679dc6-d022-4613-aaa8-d4a403513003" providerId="ADAL" clId="{8738B1CC-038C-4B02-A383-EDE63C6BAF23}" dt="2025-07-15T04:17:00.401" v="128" actId="1076"/>
          <ac:spMkLst>
            <pc:docMk/>
            <pc:sldMk cId="2934132426" sldId="261"/>
            <ac:spMk id="5" creationId="{182221F0-5A10-75DD-920D-2E1F3FEB935D}"/>
          </ac:spMkLst>
        </pc:spChg>
        <pc:spChg chg="mod">
          <ac:chgData name="Seawright, Tyler" userId="0d679dc6-d022-4613-aaa8-d4a403513003" providerId="ADAL" clId="{8738B1CC-038C-4B02-A383-EDE63C6BAF23}" dt="2025-07-12T22:51:09.324" v="33" actId="1076"/>
          <ac:spMkLst>
            <pc:docMk/>
            <pc:sldMk cId="2934132426" sldId="261"/>
            <ac:spMk id="23" creationId="{9F0404D5-214E-0238-EE3A-50BD6DA223BB}"/>
          </ac:spMkLst>
        </pc:spChg>
        <pc:picChg chg="mod">
          <ac:chgData name="Seawright, Tyler" userId="0d679dc6-d022-4613-aaa8-d4a403513003" providerId="ADAL" clId="{8738B1CC-038C-4B02-A383-EDE63C6BAF23}" dt="2025-07-12T22:50:55.017" v="30" actId="208"/>
          <ac:picMkLst>
            <pc:docMk/>
            <pc:sldMk cId="2934132426" sldId="261"/>
            <ac:picMk id="3074" creationId="{950AD2FD-1646-BAB5-6C01-6004CBA11EC0}"/>
          </ac:picMkLst>
        </pc:picChg>
        <pc:cxnChg chg="mod">
          <ac:chgData name="Seawright, Tyler" userId="0d679dc6-d022-4613-aaa8-d4a403513003" providerId="ADAL" clId="{8738B1CC-038C-4B02-A383-EDE63C6BAF23}" dt="2025-07-12T22:51:06.312" v="32" actId="14100"/>
          <ac:cxnSpMkLst>
            <pc:docMk/>
            <pc:sldMk cId="2934132426" sldId="261"/>
            <ac:cxnSpMk id="11" creationId="{BAF5148C-AD80-3514-32D7-9874EF1F84F8}"/>
          </ac:cxnSpMkLst>
        </pc:cxnChg>
      </pc:sldChg>
      <pc:sldChg chg="modSp mod modNotesTx">
        <pc:chgData name="Seawright, Tyler" userId="0d679dc6-d022-4613-aaa8-d4a403513003" providerId="ADAL" clId="{8738B1CC-038C-4B02-A383-EDE63C6BAF23}" dt="2025-07-15T04:21:31.302" v="601" actId="20577"/>
        <pc:sldMkLst>
          <pc:docMk/>
          <pc:sldMk cId="2041046639" sldId="262"/>
        </pc:sldMkLst>
        <pc:spChg chg="mod">
          <ac:chgData name="Seawright, Tyler" userId="0d679dc6-d022-4613-aaa8-d4a403513003" providerId="ADAL" clId="{8738B1CC-038C-4B02-A383-EDE63C6BAF23}" dt="2025-07-15T04:17:31.045" v="133" actId="1076"/>
          <ac:spMkLst>
            <pc:docMk/>
            <pc:sldMk cId="2041046639" sldId="262"/>
            <ac:spMk id="8" creationId="{679950BD-26D6-B7F1-94AA-B9C171AF4FF9}"/>
          </ac:spMkLst>
        </pc:spChg>
        <pc:cxnChg chg="mod">
          <ac:chgData name="Seawright, Tyler" userId="0d679dc6-d022-4613-aaa8-d4a403513003" providerId="ADAL" clId="{8738B1CC-038C-4B02-A383-EDE63C6BAF23}" dt="2025-07-15T04:17:39.110" v="135" actId="1036"/>
          <ac:cxnSpMkLst>
            <pc:docMk/>
            <pc:sldMk cId="2041046639" sldId="262"/>
            <ac:cxnSpMk id="11" creationId="{263DC6F8-5DD3-FB53-DB56-463963522C04}"/>
          </ac:cxnSpMkLst>
        </pc:cxnChg>
        <pc:cxnChg chg="mod">
          <ac:chgData name="Seawright, Tyler" userId="0d679dc6-d022-4613-aaa8-d4a403513003" providerId="ADAL" clId="{8738B1CC-038C-4B02-A383-EDE63C6BAF23}" dt="2025-07-15T04:17:31.045" v="133" actId="1076"/>
          <ac:cxnSpMkLst>
            <pc:docMk/>
            <pc:sldMk cId="2041046639" sldId="262"/>
            <ac:cxnSpMk id="49" creationId="{8826D91E-F9AD-ACE9-3D11-4075F9470118}"/>
          </ac:cxnSpMkLst>
        </pc:cxnChg>
      </pc:sldChg>
      <pc:sldChg chg="addSp delSp modSp mod">
        <pc:chgData name="Seawright, Tyler" userId="0d679dc6-d022-4613-aaa8-d4a403513003" providerId="ADAL" clId="{8738B1CC-038C-4B02-A383-EDE63C6BAF23}" dt="2025-07-12T22:49:10.075" v="28" actId="1076"/>
        <pc:sldMkLst>
          <pc:docMk/>
          <pc:sldMk cId="221813417" sldId="263"/>
        </pc:sldMkLst>
        <pc:spChg chg="mod">
          <ac:chgData name="Seawright, Tyler" userId="0d679dc6-d022-4613-aaa8-d4a403513003" providerId="ADAL" clId="{8738B1CC-038C-4B02-A383-EDE63C6BAF23}" dt="2025-07-12T22:49:10.075" v="28" actId="1076"/>
          <ac:spMkLst>
            <pc:docMk/>
            <pc:sldMk cId="221813417" sldId="263"/>
            <ac:spMk id="2" creationId="{A528B6A0-0554-84FD-005C-C83AE9D96181}"/>
          </ac:spMkLst>
        </pc:spChg>
        <pc:spChg chg="add mod">
          <ac:chgData name="Seawright, Tyler" userId="0d679dc6-d022-4613-aaa8-d4a403513003" providerId="ADAL" clId="{8738B1CC-038C-4B02-A383-EDE63C6BAF23}" dt="2025-07-12T22:48:16.723" v="23" actId="1076"/>
          <ac:spMkLst>
            <pc:docMk/>
            <pc:sldMk cId="221813417" sldId="263"/>
            <ac:spMk id="8" creationId="{B9106A83-3079-B111-C307-0BAB8DD5F41E}"/>
          </ac:spMkLst>
        </pc:spChg>
        <pc:graphicFrameChg chg="modGraphic">
          <ac:chgData name="Seawright, Tyler" userId="0d679dc6-d022-4613-aaa8-d4a403513003" providerId="ADAL" clId="{8738B1CC-038C-4B02-A383-EDE63C6BAF23}" dt="2025-07-12T22:46:15.502" v="1" actId="20577"/>
          <ac:graphicFrameMkLst>
            <pc:docMk/>
            <pc:sldMk cId="221813417" sldId="263"/>
            <ac:graphicFrameMk id="5" creationId="{0224368B-F0B9-0AAA-38C6-049BA9285D6A}"/>
          </ac:graphicFrameMkLst>
        </pc:graphicFrameChg>
        <pc:picChg chg="mod">
          <ac:chgData name="Seawright, Tyler" userId="0d679dc6-d022-4613-aaa8-d4a403513003" providerId="ADAL" clId="{8738B1CC-038C-4B02-A383-EDE63C6BAF23}" dt="2025-07-12T22:48:30.991" v="27" actId="1076"/>
          <ac:picMkLst>
            <pc:docMk/>
            <pc:sldMk cId="221813417" sldId="263"/>
            <ac:picMk id="4" creationId="{68EC3A05-C4F3-D4ED-76C3-0E60162BD3EF}"/>
          </ac:picMkLst>
        </pc:picChg>
      </pc:sldChg>
      <pc:sldChg chg="modNotesTx">
        <pc:chgData name="Seawright, Tyler" userId="0d679dc6-d022-4613-aaa8-d4a403513003" providerId="ADAL" clId="{8738B1CC-038C-4B02-A383-EDE63C6BAF23}" dt="2025-07-15T04:24:14.197" v="901" actId="20577"/>
        <pc:sldMkLst>
          <pc:docMk/>
          <pc:sldMk cId="2613855173" sldId="269"/>
        </pc:sldMkLst>
      </pc:sldChg>
      <pc:sldChg chg="modSp mod modNotesTx">
        <pc:chgData name="Seawright, Tyler" userId="0d679dc6-d022-4613-aaa8-d4a403513003" providerId="ADAL" clId="{8738B1CC-038C-4B02-A383-EDE63C6BAF23}" dt="2025-07-15T04:23:46.820" v="840" actId="20577"/>
        <pc:sldMkLst>
          <pc:docMk/>
          <pc:sldMk cId="1848180437" sldId="270"/>
        </pc:sldMkLst>
        <pc:spChg chg="mod">
          <ac:chgData name="Seawright, Tyler" userId="0d679dc6-d022-4613-aaa8-d4a403513003" providerId="ADAL" clId="{8738B1CC-038C-4B02-A383-EDE63C6BAF23}" dt="2025-07-15T04:23:16.047" v="711" actId="14100"/>
          <ac:spMkLst>
            <pc:docMk/>
            <pc:sldMk cId="1848180437" sldId="270"/>
            <ac:spMk id="3" creationId="{3ECF5939-78C1-A455-96AF-D9541E90D594}"/>
          </ac:spMkLst>
        </pc:spChg>
      </pc:sldChg>
      <pc:sldChg chg="modSp mod">
        <pc:chgData name="Seawright, Tyler" userId="0d679dc6-d022-4613-aaa8-d4a403513003" providerId="ADAL" clId="{8738B1CC-038C-4B02-A383-EDE63C6BAF23}" dt="2025-07-15T04:13:46.548" v="59" actId="14100"/>
        <pc:sldMkLst>
          <pc:docMk/>
          <pc:sldMk cId="845885460" sldId="272"/>
        </pc:sldMkLst>
        <pc:spChg chg="mod">
          <ac:chgData name="Seawright, Tyler" userId="0d679dc6-d022-4613-aaa8-d4a403513003" providerId="ADAL" clId="{8738B1CC-038C-4B02-A383-EDE63C6BAF23}" dt="2025-07-15T04:13:46.548" v="59" actId="14100"/>
          <ac:spMkLst>
            <pc:docMk/>
            <pc:sldMk cId="845885460" sldId="272"/>
            <ac:spMk id="6" creationId="{0CFFB87C-4C45-EB85-47B9-EACB96591EFB}"/>
          </ac:spMkLst>
        </pc:spChg>
        <pc:spChg chg="mod">
          <ac:chgData name="Seawright, Tyler" userId="0d679dc6-d022-4613-aaa8-d4a403513003" providerId="ADAL" clId="{8738B1CC-038C-4B02-A383-EDE63C6BAF23}" dt="2025-07-15T04:13:46.548" v="59" actId="14100"/>
          <ac:spMkLst>
            <pc:docMk/>
            <pc:sldMk cId="845885460" sldId="272"/>
            <ac:spMk id="10" creationId="{2B6FE0B3-0C49-731F-BE12-649AA1B00302}"/>
          </ac:spMkLst>
        </pc:spChg>
        <pc:spChg chg="mod">
          <ac:chgData name="Seawright, Tyler" userId="0d679dc6-d022-4613-aaa8-d4a403513003" providerId="ADAL" clId="{8738B1CC-038C-4B02-A383-EDE63C6BAF23}" dt="2025-07-15T04:13:46.548" v="59" actId="14100"/>
          <ac:spMkLst>
            <pc:docMk/>
            <pc:sldMk cId="845885460" sldId="272"/>
            <ac:spMk id="12" creationId="{632028B5-C6EA-FC21-0289-50E7C3842A77}"/>
          </ac:spMkLst>
        </pc:spChg>
        <pc:spChg chg="mod">
          <ac:chgData name="Seawright, Tyler" userId="0d679dc6-d022-4613-aaa8-d4a403513003" providerId="ADAL" clId="{8738B1CC-038C-4B02-A383-EDE63C6BAF23}" dt="2025-07-15T04:13:46.548" v="59" actId="14100"/>
          <ac:spMkLst>
            <pc:docMk/>
            <pc:sldMk cId="845885460" sldId="272"/>
            <ac:spMk id="15" creationId="{B25D3313-681D-A099-A30A-45F3EDF38793}"/>
          </ac:spMkLst>
        </pc:spChg>
        <pc:spChg chg="mod">
          <ac:chgData name="Seawright, Tyler" userId="0d679dc6-d022-4613-aaa8-d4a403513003" providerId="ADAL" clId="{8738B1CC-038C-4B02-A383-EDE63C6BAF23}" dt="2025-07-15T04:13:46.548" v="59" actId="14100"/>
          <ac:spMkLst>
            <pc:docMk/>
            <pc:sldMk cId="845885460" sldId="272"/>
            <ac:spMk id="17" creationId="{36A694BB-3ECE-2F22-068E-BF841F78E38A}"/>
          </ac:spMkLst>
        </pc:spChg>
        <pc:spChg chg="mod">
          <ac:chgData name="Seawright, Tyler" userId="0d679dc6-d022-4613-aaa8-d4a403513003" providerId="ADAL" clId="{8738B1CC-038C-4B02-A383-EDE63C6BAF23}" dt="2025-07-15T04:13:46.548" v="59" actId="14100"/>
          <ac:spMkLst>
            <pc:docMk/>
            <pc:sldMk cId="845885460" sldId="272"/>
            <ac:spMk id="20" creationId="{97738FD4-5EC2-3531-C4FD-6E08DC968B51}"/>
          </ac:spMkLst>
        </pc:spChg>
        <pc:cxnChg chg="mod">
          <ac:chgData name="Seawright, Tyler" userId="0d679dc6-d022-4613-aaa8-d4a403513003" providerId="ADAL" clId="{8738B1CC-038C-4B02-A383-EDE63C6BAF23}" dt="2025-07-15T04:13:46.548" v="59" actId="14100"/>
          <ac:cxnSpMkLst>
            <pc:docMk/>
            <pc:sldMk cId="845885460" sldId="272"/>
            <ac:cxnSpMk id="5" creationId="{71F42960-B2E1-754E-3DB0-7ACD2126A838}"/>
          </ac:cxnSpMkLst>
        </pc:cxnChg>
        <pc:cxnChg chg="mod">
          <ac:chgData name="Seawright, Tyler" userId="0d679dc6-d022-4613-aaa8-d4a403513003" providerId="ADAL" clId="{8738B1CC-038C-4B02-A383-EDE63C6BAF23}" dt="2025-07-15T04:13:46.548" v="59" actId="14100"/>
          <ac:cxnSpMkLst>
            <pc:docMk/>
            <pc:sldMk cId="845885460" sldId="272"/>
            <ac:cxnSpMk id="9" creationId="{AB766D09-B203-3F9C-A669-4DDB4A3F402A}"/>
          </ac:cxnSpMkLst>
        </pc:cxnChg>
        <pc:cxnChg chg="mod">
          <ac:chgData name="Seawright, Tyler" userId="0d679dc6-d022-4613-aaa8-d4a403513003" providerId="ADAL" clId="{8738B1CC-038C-4B02-A383-EDE63C6BAF23}" dt="2025-07-15T04:13:46.548" v="59" actId="14100"/>
          <ac:cxnSpMkLst>
            <pc:docMk/>
            <pc:sldMk cId="845885460" sldId="272"/>
            <ac:cxnSpMk id="14" creationId="{DBBA44C3-EF16-68EA-C0A5-A34A0BA83379}"/>
          </ac:cxnSpMkLst>
        </pc:cxnChg>
        <pc:cxnChg chg="mod">
          <ac:chgData name="Seawright, Tyler" userId="0d679dc6-d022-4613-aaa8-d4a403513003" providerId="ADAL" clId="{8738B1CC-038C-4B02-A383-EDE63C6BAF23}" dt="2025-07-15T04:13:46.548" v="59" actId="14100"/>
          <ac:cxnSpMkLst>
            <pc:docMk/>
            <pc:sldMk cId="845885460" sldId="272"/>
            <ac:cxnSpMk id="16" creationId="{3335F94D-D044-83EE-C01E-5BA8B2C5F73C}"/>
          </ac:cxnSpMkLst>
        </pc:cxnChg>
      </pc:sldChg>
      <pc:sldChg chg="addSp modSp mod">
        <pc:chgData name="Seawright, Tyler" userId="0d679dc6-d022-4613-aaa8-d4a403513003" providerId="ADAL" clId="{8738B1CC-038C-4B02-A383-EDE63C6BAF23}" dt="2025-07-12T22:49:18.399" v="29" actId="1076"/>
        <pc:sldMkLst>
          <pc:docMk/>
          <pc:sldMk cId="1720981873" sldId="273"/>
        </pc:sldMkLst>
        <pc:spChg chg="mod">
          <ac:chgData name="Seawright, Tyler" userId="0d679dc6-d022-4613-aaa8-d4a403513003" providerId="ADAL" clId="{8738B1CC-038C-4B02-A383-EDE63C6BAF23}" dt="2025-07-12T22:49:18.399" v="29" actId="1076"/>
          <ac:spMkLst>
            <pc:docMk/>
            <pc:sldMk cId="1720981873" sldId="273"/>
            <ac:spMk id="2" creationId="{0C9B1509-AA74-9948-6669-30E3BB392739}"/>
          </ac:spMkLst>
        </pc:spChg>
        <pc:spChg chg="add mod">
          <ac:chgData name="Seawright, Tyler" userId="0d679dc6-d022-4613-aaa8-d4a403513003" providerId="ADAL" clId="{8738B1CC-038C-4B02-A383-EDE63C6BAF23}" dt="2025-07-12T22:47:38.308" v="11" actId="1076"/>
          <ac:spMkLst>
            <pc:docMk/>
            <pc:sldMk cId="1720981873" sldId="273"/>
            <ac:spMk id="5" creationId="{18B9A9B8-211D-BF03-DD0B-E89C6080762A}"/>
          </ac:spMkLst>
        </pc:spChg>
        <pc:spChg chg="mod">
          <ac:chgData name="Seawright, Tyler" userId="0d679dc6-d022-4613-aaa8-d4a403513003" providerId="ADAL" clId="{8738B1CC-038C-4B02-A383-EDE63C6BAF23}" dt="2025-07-12T22:47:12.808" v="3" actId="21"/>
          <ac:spMkLst>
            <pc:docMk/>
            <pc:sldMk cId="1720981873" sldId="273"/>
            <ac:spMk id="6" creationId="{69E1AE9E-4A15-9154-CE65-16C259BCB1E0}"/>
          </ac:spMkLst>
        </pc:spChg>
        <pc:graphicFrameChg chg="mod">
          <ac:chgData name="Seawright, Tyler" userId="0d679dc6-d022-4613-aaa8-d4a403513003" providerId="ADAL" clId="{8738B1CC-038C-4B02-A383-EDE63C6BAF23}" dt="2025-07-12T22:47:33.859" v="10" actId="1076"/>
          <ac:graphicFrameMkLst>
            <pc:docMk/>
            <pc:sldMk cId="1720981873" sldId="273"/>
            <ac:graphicFrameMk id="11" creationId="{45D7B168-6ACB-91BA-2BE1-DF5352568201}"/>
          </ac:graphicFrameMkLst>
        </pc:graphicFrameChg>
      </pc:sldChg>
      <pc:sldChg chg="modNotesTx">
        <pc:chgData name="Seawright, Tyler" userId="0d679dc6-d022-4613-aaa8-d4a403513003" providerId="ADAL" clId="{8738B1CC-038C-4B02-A383-EDE63C6BAF23}" dt="2025-07-15T04:24:49.020" v="965" actId="20577"/>
        <pc:sldMkLst>
          <pc:docMk/>
          <pc:sldMk cId="3379577272" sldId="274"/>
        </pc:sldMkLst>
      </pc:sldChg>
      <pc:sldChg chg="modSp add mod">
        <pc:chgData name="Seawright, Tyler" userId="0d679dc6-d022-4613-aaa8-d4a403513003" providerId="ADAL" clId="{8738B1CC-038C-4B02-A383-EDE63C6BAF23}" dt="2025-07-15T04:25:19.525" v="984" actId="20577"/>
        <pc:sldMkLst>
          <pc:docMk/>
          <pc:sldMk cId="2213950702" sldId="276"/>
        </pc:sldMkLst>
        <pc:spChg chg="mod">
          <ac:chgData name="Seawright, Tyler" userId="0d679dc6-d022-4613-aaa8-d4a403513003" providerId="ADAL" clId="{8738B1CC-038C-4B02-A383-EDE63C6BAF23}" dt="2025-07-15T04:25:04.695" v="978" actId="20577"/>
          <ac:spMkLst>
            <pc:docMk/>
            <pc:sldMk cId="2213950702" sldId="276"/>
            <ac:spMk id="2" creationId="{E2EB3DC0-7BC8-7C33-4FF7-91E1DC659F2F}"/>
          </ac:spMkLst>
        </pc:spChg>
        <pc:spChg chg="mod">
          <ac:chgData name="Seawright, Tyler" userId="0d679dc6-d022-4613-aaa8-d4a403513003" providerId="ADAL" clId="{8738B1CC-038C-4B02-A383-EDE63C6BAF23}" dt="2025-07-15T04:25:19.525" v="984" actId="20577"/>
          <ac:spMkLst>
            <pc:docMk/>
            <pc:sldMk cId="2213950702" sldId="276"/>
            <ac:spMk id="3" creationId="{BCA52E81-7B61-6C22-8715-9DA8E53F51B2}"/>
          </ac:spMkLst>
        </pc:spChg>
      </pc:sldChg>
      <pc:sldChg chg="new del">
        <pc:chgData name="Seawright, Tyler" userId="0d679dc6-d022-4613-aaa8-d4a403513003" providerId="ADAL" clId="{8738B1CC-038C-4B02-A383-EDE63C6BAF23}" dt="2025-07-15T04:24:58.937" v="967" actId="680"/>
        <pc:sldMkLst>
          <pc:docMk/>
          <pc:sldMk cId="2735196528" sldId="27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63503241358605"/>
          <c:y val="5.3582159438031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EA43-4C4B-B0AD-EE987C0C6C6D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C4B-B0AD-EE987C0C6C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C4B-B0AD-EE987C0C6C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43-4C4B-B0AD-EE987C0C6C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A43-4C4B-B0AD-EE987C0C6C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43-4C4B-B0AD-EE987C0C6C6D}"/>
              </c:ext>
            </c:extLst>
          </c:dPt>
          <c:dLbls>
            <c:dLbl>
              <c:idx val="0"/>
              <c:layout>
                <c:manualLayout>
                  <c:x val="-0.16562801709948233"/>
                  <c:y val="2.281368365943452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43-4C4B-B0AD-EE987C0C6C6D}"/>
                </c:ext>
              </c:extLst>
            </c:dLbl>
            <c:dLbl>
              <c:idx val="1"/>
              <c:layout>
                <c:manualLayout>
                  <c:x val="-0.1120916883400537"/>
                  <c:y val="-4.89308694000622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43-4C4B-B0AD-EE987C0C6C6D}"/>
                </c:ext>
              </c:extLst>
            </c:dLbl>
            <c:dLbl>
              <c:idx val="2"/>
              <c:layout>
                <c:manualLayout>
                  <c:x val="-0.11376469861378584"/>
                  <c:y val="-0.1235176483514093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43-4C4B-B0AD-EE987C0C6C6D}"/>
                </c:ext>
              </c:extLst>
            </c:dLbl>
            <c:dLbl>
              <c:idx val="3"/>
              <c:layout>
                <c:manualLayout>
                  <c:x val="0.11711071916125013"/>
                  <c:y val="-0.1191381257770474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43-4C4B-B0AD-EE987C0C6C6D}"/>
                </c:ext>
              </c:extLst>
            </c:dLbl>
            <c:dLbl>
              <c:idx val="4"/>
              <c:layout>
                <c:manualLayout>
                  <c:x val="5.0190308211964345E-2"/>
                  <c:y val="0.2517132000871458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43-4C4B-B0AD-EE987C0C6C6D}"/>
                </c:ext>
              </c:extLst>
            </c:dLbl>
            <c:dLbl>
              <c:idx val="5"/>
              <c:layout>
                <c:manualLayout>
                  <c:x val="-0.19239618147919668"/>
                  <c:y val="7.295000437780511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43-4C4B-B0AD-EE987C0C6C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Mary</c:v>
                </c:pt>
                <c:pt idx="1">
                  <c:v>Sue</c:v>
                </c:pt>
                <c:pt idx="2">
                  <c:v>Timothy</c:v>
                </c:pt>
                <c:pt idx="3">
                  <c:v>Dylan</c:v>
                </c:pt>
                <c:pt idx="4">
                  <c:v>Anthony</c:v>
                </c:pt>
                <c:pt idx="5">
                  <c:v>Janet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5</c:v>
                </c:pt>
                <c:pt idx="2">
                  <c:v>5</c:v>
                </c:pt>
                <c:pt idx="3">
                  <c:v>25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3-4C4B-B0AD-EE987C0C6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25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B3A4B-5AC5-4581-8857-40BFCF7CB77E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D2683-2F14-40D0-B9AC-CF92D3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budgets are one of the last requests the typical engineer wants to hear, but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Budget is associated with the stress of deciding what to do with a scarce resource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Without a good budget, systems don’t operate as intended whether it is tracking calories, planning monthly finances, or developing a precision machine.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look to the GUM for guidance on error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0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74E-5D0E-E0E8-8EB1-6EE6231C3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F19F-805D-4DBD-CFE6-DD8E379C6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BCB12-4A7A-3CD6-51DB-93A6D3B42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After addressing why each person needed specific quantities, the allocation of the pie can be determined.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Error budgets apportion total error to identified sources to drive design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error budgets identify the sources the system is most sensitive to such as Dylan, who needs to maintain a daily calorie intake and consumes the largest portion of the pie.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2F0D2-CEAE-1AA8-45E6-485A6B243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5020-93A3-9998-B7A6-CE5A4BAE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26197-6ABB-60B6-3F16-EAE69F5B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2F9B7-8E01-3621-150D-080B0672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Coupled error propagates through stacks of parts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3D stacks are challenging to model when considering stacking abbe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2D case, you could use trigonometry to solve in your head, but moving to 3D or to multiple parts becomes more challenging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6B10-797B-806E-5836-6259BFCE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EB3F-0B86-34FD-7649-7B5F84D6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1E77-9A12-96E9-BCF6-1E2867320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3AF43-47D7-9825-71F8-F933FB59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 + </a:t>
            </a:r>
            <a:r>
              <a:rPr lang="en-US" dirty="0" err="1"/>
              <a:t>Nsigma</a:t>
            </a:r>
            <a:r>
              <a:rPr lang="en-US" dirty="0"/>
              <a:t> analysis provides a realistic distribution of many built systems because what is “worst case” when you have many parts assembled? RSS works for 1D, but not well for 3D so Montecarlo is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App is an excel macro running an executable written in </a:t>
            </a:r>
            <a:r>
              <a:rPr lang="en-US" dirty="0" err="1"/>
              <a:t>Matlab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require </a:t>
            </a:r>
            <a:r>
              <a:rPr lang="en-US" dirty="0" err="1"/>
              <a:t>Matlab</a:t>
            </a:r>
            <a:r>
              <a:rPr lang="en-US" dirty="0"/>
              <a:t> to use and does not require programming. </a:t>
            </a:r>
            <a:r>
              <a:rPr lang="en-US" dirty="0" err="1"/>
              <a:t>Matlab</a:t>
            </a:r>
            <a:r>
              <a:rPr lang="en-US" dirty="0"/>
              <a:t> source code and Macro are open sourced.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Errors are propagated using 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62FE3-010B-090F-7B6E-AE07A8B7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UI is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Formatting flexible, but information must be tagged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Freedom to build Excel as you wish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Highlight data and hit run button to calculate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Figures and results placed in 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A6BE-FA2D-0174-DC75-87DB6572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6C375-C119-C262-2D2A-7676670A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7D68-26F3-3B4E-0D91-A1ED443A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Transform path is defined by 4x4 HTMs multiplied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terms at each transform solve absolute error transform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Eq. 3 solves the relative difference between two transforms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486F-C1E5-D4C2-DDBF-505C6E29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5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B056E-02C0-E247-2D1C-E7916A2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8BBF-0FE3-1D80-A12D-A58B031BC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573F-056B-2AAC-5816-C73247B2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a device that corrects an error such as an adjuster or actively controlled device.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defined by minimum adjustable resolution and origin in 6 axes with respect to the corrected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Often, the corrector origin is not located at the point of interest (POI) to be corrected.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DFC8-4D4C-168C-54E5-862E4A7B9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79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E261-21CF-8A2F-2D35-C32C387B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EAD-6E9C-BFEF-DE9B-6C0AD7673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B4C26-698A-E81D-F603-06C9CDA5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spend much time on this slide, it is explained in the paper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flowchart outlines how the difference between errored position and corrected position is solved and the corrector is applied at a distance of POI to corrector origin.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HTM() represents MATLAB functions to convert vectors to and from HTM’s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convert relative error transform to vector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corrector difference – zeros ignored in algorithm to apply only on axes of correction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Determine transform from POI to corrector coordinate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new POI transform with correction including parasitic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Convert to relative error transform and extract error vector R_CE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804-3342-96EC-3EE7-6B624B52D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4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C93A-FA8B-BF10-6890-1EA6ED68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FADF-E17A-6556-CA96-741858D2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9760A-759F-7A71-E3DF-19A255B5B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17mrad theta z error is corrected by a corrector with rotation axis at the origin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Across a unit length, such as a meter, 17mrad error results in 17mm error.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Correcting for rotation to the resolution of the adjuster, the position error is reduced with the angle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CECF-FDB3-2928-A717-CADAC736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174C-50BD-F583-E638-1B760672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BFCE-A214-9D6C-EEF9-AA7BDFFE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E7B83-41F4-1EBC-8386-9DA35F309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 corrector axis is moved and introduces an additional position error in Y as a result of correcting 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Since the corrector is placed 1 unit away in the opposite direction, correcting angle increases error in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5E8E-F42E-7E67-E3D9-C7B4BE17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D26F-839F-A48C-D3A5-A3422B63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385BC-53B1-9B51-D4E9-ED665AFA0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A7E81-B3E0-2888-B8AB-9A69FB9F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Walk through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Fictional telescope objective has two mirrors and a pinhole.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Dimensions are given and tolerances added in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Task, determine if the focusing optics can be assembled with respect to the mechanical datums of the assembly fixed or require alignment before bonding.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41CB-FAAE-7757-4EE9-50232CE6C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6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53DD-85FB-AEA9-9559-A4917CBD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B3DDE-D039-348D-FA6E-863D5FAD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9FD39-D505-6AC3-EF80-B0714A3A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uncertainties must be within a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±</a:t>
            </a:r>
            <a:r>
              <a:rPr lang="en-US" dirty="0"/>
              <a:t>3-sigma distribution or 6-sigma distribution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Requirements are 80um position on all three optics and orientations for the mirrors with Z-orientation loose for axially symmetric mirrors.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A2B2-78C2-6D17-B554-70D8E2C95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6A98-C3DC-09D0-9A66-A843C840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48568-FE3E-2FAE-6D3C-347B3431C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E0D4-81EE-7B31-780C-1286132C6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error model starts with defining the transform path between coordinate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Three transform paths modeled by vectors from the mechanical datum of the subassembly to each optic are created and input into Excel with local tolerances.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D323-A64C-66BC-897A-E9735A55A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8E43-0D75-650A-6917-DD11152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B5AD-61CC-D228-8141-E5EC1B100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F626A-4A85-B5CF-BF2E-2BE0D5587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requirements not met, concern areas circled in 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correctors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needed on all circled in red if tolerances are not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93250-BD81-FD75-56F8-638A07F16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156E-C8F2-8F28-343A-598EB683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1BD7-3780-F37A-CD97-D00B6AE41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F1A3-78A7-3F37-CD23-5651B26E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Distributions are normal as expected and have reasonable 3-sigma ranges.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3E4B7-C8C3-275A-9CDB-C2A7C52F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0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5426-D87B-274F-FCC9-DFC37FE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C507F-A692-B9BE-0B23-23B2995FA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3973-D21C-19A8-B4D2-9D9C1E639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uncertainty requirements met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used on pinhole and 2</a:t>
            </a:r>
            <a:r>
              <a:rPr lang="en-US" baseline="30000" dirty="0"/>
              <a:t>nd</a:t>
            </a:r>
            <a:r>
              <a:rPr lang="en-US" dirty="0"/>
              <a:t> mirror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9EB1-B185-2556-60DE-7E895DC4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3014-A88C-F1C7-0AF1-02F2C9D3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6D85-3F9A-4008-06BA-84DB21435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46109-F2EB-B410-1893-408656C0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Corrected axis distributions tighten as standard deviation goes  to zero and average approaches corrector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88DA-5C0A-C429-E67C-E1AF0EFB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7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FB34-05EA-803C-0713-DE9DB91E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6EE5B-0C70-1F8D-5DA6-DCF020BAE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B1A3B-BC6F-C4F4-926E-806A39537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Powerful addition to ME toolbox without needing to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sourced and modular enough to create custom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Bridge connections between subsystems in Excel like serially adding error between independent subsystems.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88EA-0C7C-F5D9-805E-D2197BF4C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1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1E0E-556A-CF28-682A-3A86FB57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515E5-9004-A927-5B96-95B393A92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9ED1-0683-184D-2D7B-764A8F936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the code to solve simpler cases such as uncorrected solution (faster) if no corrector is input is supplied.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DE255-2511-9E56-3018-7D7D5502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08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7091-0A68-F287-D540-8871EF00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DE8B8-F504-D4CF-234C-41A44F05F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66BD7-880E-62B3-42F6-AF3DC2914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the code to solve simpler cases such as uncorrected solution (faster) if no corrector is input is supplied.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F5531-AB47-023D-2F76-2A2A3CBFB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6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2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2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9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91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3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0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D42A9D-1A72-4644-9612-161A6F230DFD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e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10" Type="http://schemas.openxmlformats.org/officeDocument/2006/relationships/image" Target="../media/image41.png"/><Relationship Id="rId4" Type="http://schemas.openxmlformats.org/officeDocument/2006/relationships/image" Target="../media/image35.emf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emf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D9A0-66FC-B053-2896-5499676A0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58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719D-78F8-5EDD-9278-EC5C559B1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54730"/>
          </a:xfrm>
        </p:spPr>
        <p:txBody>
          <a:bodyPr>
            <a:normAutofit/>
          </a:bodyPr>
          <a:lstStyle/>
          <a:p>
            <a:r>
              <a:rPr lang="en-US" dirty="0"/>
              <a:t>American Society for Precision Engineering</a:t>
            </a:r>
          </a:p>
          <a:p>
            <a:r>
              <a:rPr lang="en-US" dirty="0"/>
              <a:t>Precision Machine Design Topical Conference</a:t>
            </a:r>
          </a:p>
          <a:p>
            <a:r>
              <a:rPr lang="en-US" dirty="0"/>
              <a:t>Tyler Seawright</a:t>
            </a:r>
          </a:p>
          <a:p>
            <a:r>
              <a:rPr lang="en-US" dirty="0"/>
              <a:t>M.S. Mechanical Engineering</a:t>
            </a:r>
          </a:p>
          <a:p>
            <a:r>
              <a:rPr lang="en-US" dirty="0"/>
              <a:t>July 15, 2025</a:t>
            </a:r>
          </a:p>
          <a:p>
            <a:endParaRPr lang="en-US" dirty="0"/>
          </a:p>
        </p:txBody>
      </p:sp>
      <p:pic>
        <p:nvPicPr>
          <p:cNvPr id="1028" name="Picture 4" descr="ASPE - American Society for Precision Engineering">
            <a:extLst>
              <a:ext uri="{FF2B5EF4-FFF2-40B4-BE49-F238E27FC236}">
                <a16:creationId xmlns:a16="http://schemas.microsoft.com/office/drawing/2014/main" id="{A4B60C0C-ED3F-35BE-1E20-E5C3F220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3600"/>
            <a:ext cx="3257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85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1EA5-224A-EEAA-3E5D-3605807E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Budgets and Why they are Feared</a:t>
            </a:r>
          </a:p>
        </p:txBody>
      </p:sp>
      <p:pic>
        <p:nvPicPr>
          <p:cNvPr id="5" name="Content Placeholder 4" descr="Stressed man at work">
            <a:extLst>
              <a:ext uri="{FF2B5EF4-FFF2-40B4-BE49-F238E27FC236}">
                <a16:creationId xmlns:a16="http://schemas.microsoft.com/office/drawing/2014/main" id="{F4763CDC-B588-A390-D005-D2FAAD7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313" y="1905000"/>
            <a:ext cx="4572434" cy="304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20781-5D63-F0B7-3882-0BF3F9CBAE1F}"/>
              </a:ext>
            </a:extLst>
          </p:cNvPr>
          <p:cNvSpPr txBox="1"/>
          <p:nvPr/>
        </p:nvSpPr>
        <p:spPr>
          <a:xfrm>
            <a:off x="1484310" y="1572042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“Budget” is associated with scarcity and stress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Budgets can be difficult to organize and manage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Often requires advanced modeling of a complex system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897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FBB4-4200-A367-38B8-F6AF8F9C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A301-CEB3-EED6-7389-AE2D190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 Definitions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4DD57E-43AF-BF65-BD46-414288ABD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336287"/>
              </p:ext>
            </p:extLst>
          </p:nvPr>
        </p:nvGraphicFramePr>
        <p:xfrm>
          <a:off x="228600" y="952916"/>
          <a:ext cx="7591107" cy="5516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AC756E-84E0-A8D7-EEFD-80BC57D19D15}"/>
              </a:ext>
            </a:extLst>
          </p:cNvPr>
          <p:cNvSpPr txBox="1"/>
          <p:nvPr/>
        </p:nvSpPr>
        <p:spPr>
          <a:xfrm>
            <a:off x="6335397" y="1657767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Each person gets a portion of the pie, but all must agree on how to divide it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After a lengthy debate and negotiation, it was determined Dylan needs ¼ for a gym bulk and Sue and Timothy only want a taste since they prefer cake.</a:t>
            </a:r>
          </a:p>
        </p:txBody>
      </p:sp>
      <p:pic>
        <p:nvPicPr>
          <p:cNvPr id="2056" name="Picture 8" descr="Pie PNG Transparent Images">
            <a:extLst>
              <a:ext uri="{FF2B5EF4-FFF2-40B4-BE49-F238E27FC236}">
                <a16:creationId xmlns:a16="http://schemas.microsoft.com/office/drawing/2014/main" id="{AD9781EC-F123-5004-69DA-6A0892103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41" y="3406140"/>
            <a:ext cx="3073772" cy="169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6E316-A82A-3E35-2B8C-49EDBA777E87}"/>
              </a:ext>
            </a:extLst>
          </p:cNvPr>
          <p:cNvSpPr txBox="1"/>
          <p:nvPr/>
        </p:nvSpPr>
        <p:spPr>
          <a:xfrm>
            <a:off x="10521420" y="6604268"/>
            <a:ext cx="17937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Image credit to pngall.com</a:t>
            </a:r>
          </a:p>
        </p:txBody>
      </p:sp>
    </p:spTree>
    <p:extLst>
      <p:ext uri="{BB962C8B-B14F-4D97-AF65-F5344CB8AC3E}">
        <p14:creationId xmlns:p14="http://schemas.microsoft.com/office/powerpoint/2010/main" val="393880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5F31-7477-C0FA-5213-4D040D33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2B0E-1661-B971-0607-BDF0255E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Error Analysis with Coupled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6F2F-E1E5-775C-64A5-2249D2D5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69459"/>
            <a:ext cx="10018713" cy="2234132"/>
          </a:xfrm>
        </p:spPr>
        <p:txBody>
          <a:bodyPr>
            <a:normAutofit/>
          </a:bodyPr>
          <a:lstStyle/>
          <a:p>
            <a:r>
              <a:rPr lang="en-US" dirty="0"/>
              <a:t>Geometric error types often include coupled error on other axes such as Abbe error.</a:t>
            </a:r>
          </a:p>
          <a:p>
            <a:r>
              <a:rPr lang="en-US" dirty="0"/>
              <a:t>3D error stacks including coupled error are the most general, yet can be challenging to model, manage, and validate.</a:t>
            </a:r>
          </a:p>
          <a:p>
            <a:r>
              <a:rPr lang="en-US" dirty="0"/>
              <a:t>Simple 2D case modeled with a rotation propagated across a unit distance.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0632F-0247-328F-5065-2D75BCCC32B0}"/>
              </a:ext>
            </a:extLst>
          </p:cNvPr>
          <p:cNvGrpSpPr/>
          <p:nvPr/>
        </p:nvGrpSpPr>
        <p:grpSpPr>
          <a:xfrm>
            <a:off x="1056293" y="3804377"/>
            <a:ext cx="4726499" cy="2127040"/>
            <a:chOff x="1584248" y="4044760"/>
            <a:chExt cx="4726499" cy="21270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A81AE3-341F-AA53-8FE7-1FB696C90711}"/>
                </a:ext>
              </a:extLst>
            </p:cNvPr>
            <p:cNvCxnSpPr>
              <a:cxnSpLocks/>
            </p:cNvCxnSpPr>
            <p:nvPr/>
          </p:nvCxnSpPr>
          <p:spPr>
            <a:xfrm>
              <a:off x="2454662" y="5401941"/>
              <a:ext cx="2909116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442328-93FF-FEB4-61C5-E0EE6154A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662" y="43899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8E6F55-F6F5-CC6C-22F4-300C65EEC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577" y="540194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99B0E89-EDDF-D2C8-ABE1-FA272D980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249" y="540194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85A53A-9FC5-CBE4-7A1A-2572B99AA73B}"/>
                </a:ext>
              </a:extLst>
            </p:cNvPr>
            <p:cNvSpPr txBox="1"/>
            <p:nvPr/>
          </p:nvSpPr>
          <p:spPr>
            <a:xfrm>
              <a:off x="1788443" y="52934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13E597-6C58-D356-4071-8E6C54BF4943}"/>
                </a:ext>
              </a:extLst>
            </p:cNvPr>
            <p:cNvSpPr txBox="1"/>
            <p:nvPr/>
          </p:nvSpPr>
          <p:spPr>
            <a:xfrm>
              <a:off x="2109999" y="4131916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52B55B-A4F3-C536-0A3E-36D1BAAD4C00}"/>
                </a:ext>
              </a:extLst>
            </p:cNvPr>
            <p:cNvSpPr txBox="1"/>
            <p:nvPr/>
          </p:nvSpPr>
          <p:spPr>
            <a:xfrm>
              <a:off x="3112094" y="529340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8295210-9776-B547-8E42-AB21C2C7B05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39313" y="4102187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AC6F59-FFDE-D374-0E64-F7929DB4EC3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87355" y="5052158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976FD3-EF4E-3E33-99C4-24788DC20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0230" y="5106782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DC1F8E-6B99-F778-98B8-2773E709CEBF}"/>
                </a:ext>
              </a:extLst>
            </p:cNvPr>
            <p:cNvSpPr txBox="1"/>
            <p:nvPr/>
          </p:nvSpPr>
          <p:spPr>
            <a:xfrm>
              <a:off x="4801580" y="404476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E70B88D-8574-2922-238E-E59AACA8051F}"/>
                </a:ext>
              </a:extLst>
            </p:cNvPr>
            <p:cNvCxnSpPr/>
            <p:nvPr/>
          </p:nvCxnSpPr>
          <p:spPr>
            <a:xfrm flipV="1">
              <a:off x="2482866" y="5106782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1028AD-C58C-42F3-079C-55CEF5BB8355}"/>
                </a:ext>
              </a:extLst>
            </p:cNvPr>
            <p:cNvSpPr txBox="1"/>
            <p:nvPr/>
          </p:nvSpPr>
          <p:spPr>
            <a:xfrm>
              <a:off x="4632796" y="52383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A8C855-817C-20D6-38C2-BC75378AAB50}"/>
                </a:ext>
              </a:extLst>
            </p:cNvPr>
            <p:cNvSpPr txBox="1"/>
            <p:nvPr/>
          </p:nvSpPr>
          <p:spPr>
            <a:xfrm>
              <a:off x="5965781" y="450523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C07E54-960E-90B4-55A5-53ECB4771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210" y="5124284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D6676E-7A1D-FCA1-AEFF-79CF2962C180}"/>
                </a:ext>
              </a:extLst>
            </p:cNvPr>
            <p:cNvSpPr/>
            <p:nvPr/>
          </p:nvSpPr>
          <p:spPr>
            <a:xfrm>
              <a:off x="5468682" y="5247144"/>
              <a:ext cx="232371" cy="620251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BA5789-C724-28BE-FB89-CDD59A099595}"/>
                </a:ext>
              </a:extLst>
            </p:cNvPr>
            <p:cNvSpPr/>
            <p:nvPr/>
          </p:nvSpPr>
          <p:spPr>
            <a:xfrm>
              <a:off x="4011603" y="5867397"/>
              <a:ext cx="2135891" cy="30440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(X,Y) Displacement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F9C54E-4B05-1D4F-5582-A06F0BC1881C}"/>
                </a:ext>
              </a:extLst>
            </p:cNvPr>
            <p:cNvSpPr/>
            <p:nvPr/>
          </p:nvSpPr>
          <p:spPr>
            <a:xfrm rot="6301538">
              <a:off x="3590322" y="4937087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/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/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blipFill>
                  <a:blip r:embed="rId4"/>
                  <a:stretch>
                    <a:fillRect l="-7752" r="-1550" b="-2926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/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𝑪𝑺</m:t>
                        </m:r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blipFill>
                  <a:blip r:embed="rId5"/>
                  <a:stretch>
                    <a:fillRect l="-10959" r="-2740"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/>
              <p:nvPr/>
            </p:nvSpPr>
            <p:spPr>
              <a:xfrm>
                <a:off x="5946109" y="3797678"/>
                <a:ext cx="6101129" cy="2503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109" y="3797678"/>
                <a:ext cx="6101129" cy="2503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/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/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blipFill>
                <a:blip r:embed="rId8"/>
                <a:stretch>
                  <a:fillRect b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94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7306-69EE-AAC0-BD1B-481E9688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23E4-B05C-DC5E-B125-3FB21D6E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</p:spPr>
            <p:txBody>
              <a:bodyPr/>
              <a:lstStyle/>
              <a:p>
                <a:r>
                  <a:rPr lang="en-US" dirty="0"/>
                  <a:t>Design tool that solves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error from a tolerance stack in 3D.</a:t>
                </a:r>
              </a:p>
              <a:p>
                <a:r>
                  <a:rPr lang="en-US" dirty="0"/>
                  <a:t>Runs directly in Excel as a macro requiring no programming</a:t>
                </a:r>
              </a:p>
              <a:p>
                <a:r>
                  <a:rPr lang="en-US" dirty="0"/>
                  <a:t>Macro calls precompiled MATLAB code (Open-Source on GitHub)</a:t>
                </a:r>
              </a:p>
              <a:p>
                <a:r>
                  <a:rPr lang="en-US" dirty="0"/>
                  <a:t>Uses HTM to propagate error through a system of transforms</a:t>
                </a:r>
              </a:p>
              <a:p>
                <a:r>
                  <a:rPr lang="en-US" dirty="0"/>
                  <a:t>Includes input to apply correctors and propagate coupled errors associated with using them.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  <a:blipFill>
                <a:blip r:embed="rId3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6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7CE5ACFD-9597-C15B-2D19-764DC6D13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3"/>
          <a:stretch/>
        </p:blipFill>
        <p:spPr bwMode="auto">
          <a:xfrm>
            <a:off x="669888" y="994706"/>
            <a:ext cx="10852223" cy="5102052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D8863-C285-5907-C748-DF6244FE510C}"/>
              </a:ext>
            </a:extLst>
          </p:cNvPr>
          <p:cNvSpPr txBox="1">
            <a:spLocks/>
          </p:cNvSpPr>
          <p:nvPr/>
        </p:nvSpPr>
        <p:spPr>
          <a:xfrm>
            <a:off x="1086642" y="227842"/>
            <a:ext cx="10018713" cy="10668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Application UI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530A46-D9D6-F09D-F774-F4A103AF564B}"/>
              </a:ext>
            </a:extLst>
          </p:cNvPr>
          <p:cNvSpPr/>
          <p:nvPr/>
        </p:nvSpPr>
        <p:spPr>
          <a:xfrm>
            <a:off x="9683885" y="357046"/>
            <a:ext cx="2178531" cy="844685"/>
          </a:xfrm>
          <a:prstGeom prst="roundRect">
            <a:avLst>
              <a:gd name="adj" fmla="val 3163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Run TolStack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42960-B2E1-754E-3DB0-7ACD2126A83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387191" y="2074666"/>
            <a:ext cx="560879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FFB87C-4C45-EB85-47B9-EACB96591EFB}"/>
              </a:ext>
            </a:extLst>
          </p:cNvPr>
          <p:cNvSpPr/>
          <p:nvPr/>
        </p:nvSpPr>
        <p:spPr>
          <a:xfrm>
            <a:off x="9948070" y="1885545"/>
            <a:ext cx="2022693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Nominal Vectors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766D09-B203-3F9C-A669-4DDB4A3F402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9387191" y="2975852"/>
            <a:ext cx="560879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B6FE0B3-0C49-731F-BE12-649AA1B00302}"/>
              </a:ext>
            </a:extLst>
          </p:cNvPr>
          <p:cNvSpPr/>
          <p:nvPr/>
        </p:nvSpPr>
        <p:spPr>
          <a:xfrm>
            <a:off x="9948070" y="2786731"/>
            <a:ext cx="2022693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Local Errors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0F903-DE3D-135F-6703-B0FD3B03E603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387191" y="4158063"/>
            <a:ext cx="257772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028B5-C6EA-FC21-0289-50E7C3842A77}"/>
              </a:ext>
            </a:extLst>
          </p:cNvPr>
          <p:cNvSpPr/>
          <p:nvPr/>
        </p:nvSpPr>
        <p:spPr>
          <a:xfrm>
            <a:off x="9644963" y="3968942"/>
            <a:ext cx="2325800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Corrector Definition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A44C3-EF16-68EA-C0A5-A34A0BA8337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525965" y="4924927"/>
            <a:ext cx="257772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D3313-681D-A099-A30A-45F3EDF38793}"/>
              </a:ext>
            </a:extLst>
          </p:cNvPr>
          <p:cNvSpPr/>
          <p:nvPr/>
        </p:nvSpPr>
        <p:spPr>
          <a:xfrm>
            <a:off x="7783737" y="4735806"/>
            <a:ext cx="2325800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Montecarlo Setup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35F94D-D044-83EE-C01E-5BA8B2C5F73C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9387191" y="5979988"/>
            <a:ext cx="271864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694BB-3ECE-2F22-068E-BF841F78E38A}"/>
              </a:ext>
            </a:extLst>
          </p:cNvPr>
          <p:cNvSpPr/>
          <p:nvPr/>
        </p:nvSpPr>
        <p:spPr>
          <a:xfrm>
            <a:off x="9659055" y="5790867"/>
            <a:ext cx="2228145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Exported Result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E9105D-7387-92BB-6AE7-B4EEF6663AEE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8984761" y="779389"/>
            <a:ext cx="699124" cy="422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38FD4-5EC2-3531-C4FD-6E08DC968B51}"/>
              </a:ext>
            </a:extLst>
          </p:cNvPr>
          <p:cNvSpPr/>
          <p:nvPr/>
        </p:nvSpPr>
        <p:spPr>
          <a:xfrm>
            <a:off x="7363327" y="1022730"/>
            <a:ext cx="1621434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Excel Button</a:t>
            </a:r>
          </a:p>
        </p:txBody>
      </p:sp>
    </p:spTree>
    <p:extLst>
      <p:ext uri="{BB962C8B-B14F-4D97-AF65-F5344CB8AC3E}">
        <p14:creationId xmlns:p14="http://schemas.microsoft.com/office/powerpoint/2010/main" val="84588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FC7F-DBF9-418C-8DDA-DBF1C374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D32-67DC-42FE-5860-05903511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Model by HTM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004-9C58-0272-44E6-BB9D09D4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36371"/>
            <a:ext cx="5922330" cy="353377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A transform path is defined by multiplying 4x4 HTMs.</a:t>
            </a:r>
          </a:p>
          <a:p>
            <a:r>
              <a:rPr lang="en-US" sz="2800" dirty="0"/>
              <a:t>Applying error terms to each transform solves the absolute error transform.</a:t>
            </a:r>
          </a:p>
          <a:p>
            <a:r>
              <a:rPr lang="en-US" sz="2800" dirty="0"/>
              <a:t>Eq. 3 solves relative difference between the two, representing error in this analysis.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/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(eq. 1)</a:t>
                </a:r>
              </a:p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(eq. 2)</a:t>
                </a:r>
              </a:p>
              <a:p>
                <a:pPr marL="0" marR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</m:e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i="1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			</a:t>
                </a:r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(eq. 3)</a:t>
                </a:r>
              </a:p>
              <a:p>
                <a:endParaRPr lang="en-US" sz="40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blipFill>
                <a:blip r:embed="rId3"/>
                <a:stretch>
                  <a:fillRect t="-3971" r="-698" b="-938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43B953AF-EF9D-42C9-371A-CFC64703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296" y="1436370"/>
            <a:ext cx="4241800" cy="318135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D95734-D60E-F53B-4F64-1A2B5EC10713}"/>
                  </a:ext>
                </a:extLst>
              </p:cNvPr>
              <p:cNvSpPr/>
              <p:nvPr/>
            </p:nvSpPr>
            <p:spPr>
              <a:xfrm>
                <a:off x="90013" y="6102415"/>
                <a:ext cx="2349753" cy="5405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D95734-D60E-F53B-4F64-1A2B5EC10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3" y="6102415"/>
                <a:ext cx="2349753" cy="540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1142D8-DF4C-B0C8-C502-35C55E5A656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9766" y="6372674"/>
            <a:ext cx="18209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8836E4-DE6E-31C6-39FF-A73AA3AAE297}"/>
              </a:ext>
            </a:extLst>
          </p:cNvPr>
          <p:cNvSpPr txBox="1"/>
          <p:nvPr/>
        </p:nvSpPr>
        <p:spPr>
          <a:xfrm>
            <a:off x="2571917" y="5972564"/>
            <a:ext cx="155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Re-arranged</a:t>
            </a:r>
          </a:p>
        </p:txBody>
      </p:sp>
    </p:spTree>
    <p:extLst>
      <p:ext uri="{BB962C8B-B14F-4D97-AF65-F5344CB8AC3E}">
        <p14:creationId xmlns:p14="http://schemas.microsoft.com/office/powerpoint/2010/main" val="345312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7A7A-84F5-0C5F-661A-F273D761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BA96-96B9-653B-0A75-E64DC389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Corrector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E73D-FBFC-2F82-C2A4-C7E5C2FE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120" y="1276351"/>
            <a:ext cx="6366076" cy="4514850"/>
          </a:xfrm>
        </p:spPr>
        <p:txBody>
          <a:bodyPr/>
          <a:lstStyle/>
          <a:p>
            <a:r>
              <a:rPr lang="en-US" dirty="0"/>
              <a:t>Corrector is a device that corrects an error in a system with respect to a coordinate system.</a:t>
            </a:r>
          </a:p>
          <a:p>
            <a:r>
              <a:rPr lang="en-US" dirty="0"/>
              <a:t>A corrector is defined with a 1x6 vector as the minimum adjustable resolution on each axis and a 1x6 vector as the position and orientation with respect to the adjusted point of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EEB85-BFF0-D247-F886-4B84D3F9101D}"/>
              </a:ext>
            </a:extLst>
          </p:cNvPr>
          <p:cNvSpPr txBox="1"/>
          <p:nvPr/>
        </p:nvSpPr>
        <p:spPr>
          <a:xfrm>
            <a:off x="9481023" y="6109176"/>
            <a:ext cx="2844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Tip/Tilt Adjuster Credit Newport </a:t>
            </a:r>
            <a:r>
              <a:rPr lang="en-US" sz="2000" i="0" dirty="0">
                <a:solidFill>
                  <a:schemeClr val="bg2">
                    <a:lumMod val="25000"/>
                  </a:schemeClr>
                </a:solidFill>
                <a:effectLst/>
              </a:rPr>
              <a:t>SN100C-F2K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C5FE66-A2DE-1A7E-B1A3-5A1B39604097}"/>
              </a:ext>
            </a:extLst>
          </p:cNvPr>
          <p:cNvGrpSpPr/>
          <p:nvPr/>
        </p:nvGrpSpPr>
        <p:grpSpPr>
          <a:xfrm>
            <a:off x="7553196" y="1691160"/>
            <a:ext cx="4503123" cy="3377342"/>
            <a:chOff x="7553196" y="1691160"/>
            <a:chExt cx="4503123" cy="337734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50AD2FD-1646-BAB5-6C01-6004CBA11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426E69-318F-8932-C49D-BAEAD4125073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F5148C-AD80-3514-32D7-9874EF1F8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789889"/>
              <a:ext cx="0" cy="255752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99AFAE9-E1CB-2BA8-78C6-DA482EBA7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8B2BD70-8B5F-B4DD-D5D2-FDFA8E6BD02D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1FDDC5-CA10-006E-9D2A-478A3F13D54F}"/>
                </a:ext>
              </a:extLst>
            </p:cNvPr>
            <p:cNvSpPr txBox="1"/>
            <p:nvPr/>
          </p:nvSpPr>
          <p:spPr>
            <a:xfrm>
              <a:off x="11015389" y="3943046"/>
              <a:ext cx="4876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0404D5-214E-0238-EE3A-50BD6DA223BB}"/>
                </a:ext>
              </a:extLst>
            </p:cNvPr>
            <p:cNvSpPr txBox="1"/>
            <p:nvPr/>
          </p:nvSpPr>
          <p:spPr>
            <a:xfrm>
              <a:off x="8848285" y="1691160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Tilt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8AC181-0814-8004-9D18-A7926FD52586}"/>
                </a:ext>
              </a:extLst>
            </p:cNvPr>
            <p:cNvSpPr txBox="1"/>
            <p:nvPr/>
          </p:nvSpPr>
          <p:spPr>
            <a:xfrm>
              <a:off x="7908398" y="3622883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Origin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E97334-C26A-46EA-ED08-2D89BF57BB21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8687779" y="3533776"/>
              <a:ext cx="546320" cy="27377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FABA85-E95B-04C9-0822-7996A7EFE556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10149379" y="2731834"/>
              <a:ext cx="483808" cy="27710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96E8A-60F6-B70B-616B-0313B6418C6B}"/>
                </a:ext>
              </a:extLst>
            </p:cNvPr>
            <p:cNvSpPr txBox="1"/>
            <p:nvPr/>
          </p:nvSpPr>
          <p:spPr>
            <a:xfrm>
              <a:off x="10633187" y="25471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2221F0-5A10-75DD-920D-2E1F3FEB935D}"/>
              </a:ext>
            </a:extLst>
          </p:cNvPr>
          <p:cNvSpPr txBox="1"/>
          <p:nvPr/>
        </p:nvSpPr>
        <p:spPr>
          <a:xfrm>
            <a:off x="9918425" y="2754493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aseline="-25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93413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C9B5-609B-2E4C-E400-9881565C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3732-86C0-D74E-7A43-34EEADF5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Correcting by HTM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C2527-3961-7105-D79D-B4DC6BD0DA13}"/>
              </a:ext>
            </a:extLst>
          </p:cNvPr>
          <p:cNvSpPr/>
          <p:nvPr/>
        </p:nvSpPr>
        <p:spPr>
          <a:xfrm>
            <a:off x="2221035" y="667265"/>
            <a:ext cx="994610" cy="573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/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𝑯𝑻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blipFill>
                <a:blip r:embed="rId3"/>
                <a:stretch>
                  <a:fillRect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/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Corrector Difference Vector and HTM when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𝐑𝐞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blipFill>
                <a:blip r:embed="rId4"/>
                <a:stretch>
                  <a:fillRect l="-384" t="-1553" r="-2303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/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HTM to Corrector Origin  from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𝒗𝒄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blipFill>
                <a:blip r:embed="rId5"/>
                <a:stretch>
                  <a:fillRect t="-2317" b="-4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/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Absolute Error with Corrector at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lit/>
                        </m:r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95D96F1-8921-B0E2-A915-8AF0197CA28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2435354" y="5256039"/>
            <a:ext cx="1007130" cy="441157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826D91E-F9AD-ACE9-3D11-4075F947011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5170737" y="2438151"/>
            <a:ext cx="2246178" cy="3276804"/>
          </a:xfrm>
          <a:prstGeom prst="bentConnector3">
            <a:avLst>
              <a:gd name="adj1" fmla="val 79882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/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Relative Error with Corrector at POI and Convert to 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blipFill>
                <a:blip r:embed="rId7"/>
                <a:stretch>
                  <a:fillRect r="-1020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/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𝑪𝑬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  <a:blipFill>
                <a:blip r:embed="rId8"/>
                <a:stretch>
                  <a:fillRect l="-857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0CD92F31-F452-0AF1-D6AD-60E4850874B1}"/>
              </a:ext>
            </a:extLst>
          </p:cNvPr>
          <p:cNvCxnSpPr>
            <a:cxnSpLocks/>
            <a:stCxn id="60" idx="2"/>
            <a:endCxn id="70" idx="1"/>
          </p:cNvCxnSpPr>
          <p:nvPr/>
        </p:nvCxnSpPr>
        <p:spPr>
          <a:xfrm rot="16200000" flipH="1">
            <a:off x="8679516" y="5609768"/>
            <a:ext cx="630599" cy="781300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DC6F8-5DD3-FB53-DB56-463963522C04}"/>
              </a:ext>
            </a:extLst>
          </p:cNvPr>
          <p:cNvCxnSpPr>
            <a:cxnSpLocks/>
          </p:cNvCxnSpPr>
          <p:nvPr/>
        </p:nvCxnSpPr>
        <p:spPr>
          <a:xfrm flipH="1">
            <a:off x="8994814" y="2974792"/>
            <a:ext cx="1" cy="6759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28BF87-3F81-FAED-A6A0-42B1C1DD83D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18340" y="1240770"/>
            <a:ext cx="0" cy="6390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A07199-000C-E08C-A4F4-068C65E624C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18341" y="2497906"/>
            <a:ext cx="0" cy="53405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0138-C6DA-CC3B-4E66-E589D923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1509-AA74-9948-6669-30E3BB39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6141"/>
            <a:ext cx="10018713" cy="1066800"/>
          </a:xfrm>
        </p:spPr>
        <p:txBody>
          <a:bodyPr/>
          <a:lstStyle/>
          <a:p>
            <a:r>
              <a:rPr lang="en-US" dirty="0"/>
              <a:t>Model Validation 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E1AE9E-4A15-9154-CE65-16C259BCB1E0}"/>
              </a:ext>
            </a:extLst>
          </p:cNvPr>
          <p:cNvSpPr txBox="1">
            <a:spLocks/>
          </p:cNvSpPr>
          <p:nvPr/>
        </p:nvSpPr>
        <p:spPr>
          <a:xfrm>
            <a:off x="2311635" y="909724"/>
            <a:ext cx="9880365" cy="733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7363559"/>
                  </p:ext>
                </p:extLst>
              </p:nvPr>
            </p:nvGraphicFramePr>
            <p:xfrm>
              <a:off x="1484310" y="202090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7363559"/>
                  </p:ext>
                </p:extLst>
              </p:nvPr>
            </p:nvGraphicFramePr>
            <p:xfrm>
              <a:off x="1484310" y="202090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11881" r="-292473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79787" t="-11881" r="-189362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5287" t="-11881" r="-2299" b="-287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1B0B7B6-6AE5-C69A-1C2F-0AAE8CC2786F}"/>
              </a:ext>
            </a:extLst>
          </p:cNvPr>
          <p:cNvGrpSpPr/>
          <p:nvPr/>
        </p:nvGrpSpPr>
        <p:grpSpPr>
          <a:xfrm>
            <a:off x="5416947" y="4007991"/>
            <a:ext cx="6086076" cy="2406366"/>
            <a:chOff x="6096000" y="3871486"/>
            <a:chExt cx="6086076" cy="2406366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2E844A-5CF7-4153-E226-DC3773AC2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4554995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B0E2D9-C50A-6033-9A13-6BDC47DF0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0ADD43-C1F2-6AD3-30BE-5FE37FB1E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001" y="5566996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C919FE-389B-83C7-73B2-C35CF8E039F8}"/>
                </a:ext>
              </a:extLst>
            </p:cNvPr>
            <p:cNvSpPr txBox="1"/>
            <p:nvPr/>
          </p:nvSpPr>
          <p:spPr>
            <a:xfrm>
              <a:off x="6300195" y="54584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546854-1897-1092-7380-5A4E8558E13C}"/>
                </a:ext>
              </a:extLst>
            </p:cNvPr>
            <p:cNvSpPr txBox="1"/>
            <p:nvPr/>
          </p:nvSpPr>
          <p:spPr>
            <a:xfrm>
              <a:off x="6621751" y="429697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8DEF6F-7198-EFE9-36C0-68EB181915CC}"/>
                </a:ext>
              </a:extLst>
            </p:cNvPr>
            <p:cNvSpPr txBox="1"/>
            <p:nvPr/>
          </p:nvSpPr>
          <p:spPr>
            <a:xfrm>
              <a:off x="7623846" y="545846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A97218-97EF-CA03-8EEF-455B8AFE8FB4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51065" y="42672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3B85D2-B8ED-A72A-69E3-4C6D10F9A9A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64CC9F0-5605-8E6A-7FA6-C4B5F013A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1982" y="5271836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834E72-FE73-B516-057F-182CBCCA9E2E}"/>
                </a:ext>
              </a:extLst>
            </p:cNvPr>
            <p:cNvSpPr txBox="1"/>
            <p:nvPr/>
          </p:nvSpPr>
          <p:spPr>
            <a:xfrm>
              <a:off x="9313332" y="4209814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D4E969-EB2F-4902-8FF2-BFDB15C6A5CC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700BC-EFA8-77D7-568A-556CED4C4936}"/>
                </a:ext>
              </a:extLst>
            </p:cNvPr>
            <p:cNvSpPr txBox="1"/>
            <p:nvPr/>
          </p:nvSpPr>
          <p:spPr>
            <a:xfrm>
              <a:off x="9144548" y="54033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59B5A6-2979-80AE-1AF3-D0C09E187E1E}"/>
                </a:ext>
              </a:extLst>
            </p:cNvPr>
            <p:cNvSpPr txBox="1"/>
            <p:nvPr/>
          </p:nvSpPr>
          <p:spPr>
            <a:xfrm>
              <a:off x="10477533" y="467029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4C61AD-3045-18EA-A91D-294259C4CCD4}"/>
                </a:ext>
              </a:extLst>
            </p:cNvPr>
            <p:cNvGrpSpPr/>
            <p:nvPr/>
          </p:nvGrpSpPr>
          <p:grpSpPr>
            <a:xfrm rot="525620">
              <a:off x="9610222" y="4529981"/>
              <a:ext cx="1235331" cy="1332770"/>
              <a:chOff x="4478435" y="4724669"/>
              <a:chExt cx="885550" cy="89520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559D7F1-79F4-CD31-3657-8C9A5D4C0F6F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15873" y="4724669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E271615-E657-714E-6F43-1E63D56360C5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50313" y="5362750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8468002-5C54-88E9-68CB-7CF5EB3C47C0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8435" y="542942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35FBD08-C721-CCF1-A571-FF86BF606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8D20D3-8873-5590-DF9E-A99D604F6A6C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9781DF3-B088-4B73-B81E-C502511D4F07}"/>
                </a:ext>
              </a:extLst>
            </p:cNvPr>
            <p:cNvSpPr/>
            <p:nvPr/>
          </p:nvSpPr>
          <p:spPr>
            <a:xfrm>
              <a:off x="9963689" y="4090836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FD3711C-A566-35B5-29DF-1FBF2807F7E5}"/>
                </a:ext>
              </a:extLst>
            </p:cNvPr>
            <p:cNvSpPr/>
            <p:nvPr/>
          </p:nvSpPr>
          <p:spPr>
            <a:xfrm>
              <a:off x="8918696" y="3871486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D63165D-A34E-9531-7DEE-A38932D19AB2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CB83EF-A42B-66A7-0324-1EC16E369DD5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CEDD6F1-D36E-011B-6E13-2BDA3233A6AF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5"/>
                  <a:stretch>
                    <a:fillRect t="-4286" r="-2286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6"/>
                  <a:stretch>
                    <a:fillRect l="-7813" r="-2344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93602A2-63CD-0D5F-9EBC-216647172978}"/>
                </a:ext>
              </a:extLst>
            </p:cNvPr>
            <p:cNvSpPr txBox="1"/>
            <p:nvPr/>
          </p:nvSpPr>
          <p:spPr>
            <a:xfrm>
              <a:off x="8924158" y="5012998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1un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7"/>
                  <a:stretch>
                    <a:fillRect t="-4286" r="-369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56DEB5D-4A0C-B2AD-709A-81F14A82B678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/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CC7F24-9B32-47B2-3ACF-C57FE9D80EEE}"/>
              </a:ext>
            </a:extLst>
          </p:cNvPr>
          <p:cNvSpPr txBox="1"/>
          <p:nvPr/>
        </p:nvSpPr>
        <p:spPr>
          <a:xfrm>
            <a:off x="7786072" y="563621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B9A9B8-211D-BF03-DD0B-E89C6080762A}"/>
                  </a:ext>
                </a:extLst>
              </p:cNvPr>
              <p:cNvSpPr/>
              <p:nvPr/>
            </p:nvSpPr>
            <p:spPr>
              <a:xfrm>
                <a:off x="1656157" y="1161952"/>
                <a:ext cx="9675017" cy="63264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error corrected to 2.5mrad with corrector located at Origin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B9A9B8-211D-BF03-DD0B-E89C60807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57" y="1161952"/>
                <a:ext cx="9675017" cy="632646"/>
              </a:xfrm>
              <a:prstGeom prst="rect">
                <a:avLst/>
              </a:prstGeom>
              <a:blipFill>
                <a:blip r:embed="rId9"/>
                <a:stretch>
                  <a:fillRect l="-943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98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E19A-BFCC-DAFC-830F-BB9E2DA4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B6A0-0554-84FD-005C-C83AE9D9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575" y="6733"/>
            <a:ext cx="10018713" cy="1066800"/>
          </a:xfrm>
        </p:spPr>
        <p:txBody>
          <a:bodyPr/>
          <a:lstStyle/>
          <a:p>
            <a:r>
              <a:rPr lang="en-US" dirty="0"/>
              <a:t>Model Validation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3785520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-0.0004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3785520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9559" r="-2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88172" t="-9559" r="-1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4713" t="-9559" r="-2874" b="-1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-0.0004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EC3A05-C4F3-D4ED-76C3-0E60162B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180" y="1747696"/>
            <a:ext cx="4351226" cy="326342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35CB21-E4AC-1A41-9323-5BDE825AEEDA}"/>
              </a:ext>
            </a:extLst>
          </p:cNvPr>
          <p:cNvCxnSpPr>
            <a:cxnSpLocks/>
          </p:cNvCxnSpPr>
          <p:nvPr/>
        </p:nvCxnSpPr>
        <p:spPr>
          <a:xfrm flipV="1">
            <a:off x="1946739" y="4914648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201801-4CC7-37A0-F4D2-0916724DD382}"/>
              </a:ext>
            </a:extLst>
          </p:cNvPr>
          <p:cNvCxnSpPr>
            <a:cxnSpLocks/>
          </p:cNvCxnSpPr>
          <p:nvPr/>
        </p:nvCxnSpPr>
        <p:spPr>
          <a:xfrm flipV="1">
            <a:off x="1931654" y="5926649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A439E-656B-D7BC-8FA3-6A1748E8D5EB}"/>
              </a:ext>
            </a:extLst>
          </p:cNvPr>
          <p:cNvCxnSpPr>
            <a:cxnSpLocks/>
          </p:cNvCxnSpPr>
          <p:nvPr/>
        </p:nvCxnSpPr>
        <p:spPr>
          <a:xfrm flipH="1">
            <a:off x="1530326" y="5926649"/>
            <a:ext cx="444617" cy="44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EFBF1E-C0A0-5018-8802-83769A1B444B}"/>
              </a:ext>
            </a:extLst>
          </p:cNvPr>
          <p:cNvSpPr txBox="1"/>
          <p:nvPr/>
        </p:nvSpPr>
        <p:spPr>
          <a:xfrm>
            <a:off x="1280520" y="58181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AADF4-8402-C176-874B-EF76BE373B6D}"/>
              </a:ext>
            </a:extLst>
          </p:cNvPr>
          <p:cNvSpPr txBox="1"/>
          <p:nvPr/>
        </p:nvSpPr>
        <p:spPr>
          <a:xfrm>
            <a:off x="1602076" y="465662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0C85B-9BA7-8DBF-7F9B-E15003ADC186}"/>
              </a:ext>
            </a:extLst>
          </p:cNvPr>
          <p:cNvSpPr txBox="1"/>
          <p:nvPr/>
        </p:nvSpPr>
        <p:spPr>
          <a:xfrm>
            <a:off x="2604171" y="58181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3FC087-A01E-DA6C-79F1-9064368AC1BB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31390" y="4626894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534CE-0D93-2650-38D6-5C1D3CFA03FD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79432" y="5576865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4D0840-C39D-7D82-EE3A-155C613E6D2B}"/>
              </a:ext>
            </a:extLst>
          </p:cNvPr>
          <p:cNvCxnSpPr>
            <a:cxnSpLocks/>
          </p:cNvCxnSpPr>
          <p:nvPr/>
        </p:nvCxnSpPr>
        <p:spPr>
          <a:xfrm flipH="1">
            <a:off x="4452307" y="5631489"/>
            <a:ext cx="373651" cy="406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A57C22-57F5-2D39-0C04-09300EC4AC46}"/>
              </a:ext>
            </a:extLst>
          </p:cNvPr>
          <p:cNvSpPr txBox="1"/>
          <p:nvPr/>
        </p:nvSpPr>
        <p:spPr>
          <a:xfrm>
            <a:off x="4341049" y="453481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89F9CB-4D1B-10F1-82EF-79DCC7830EAB}"/>
              </a:ext>
            </a:extLst>
          </p:cNvPr>
          <p:cNvCxnSpPr/>
          <p:nvPr/>
        </p:nvCxnSpPr>
        <p:spPr>
          <a:xfrm flipV="1">
            <a:off x="1974943" y="5631489"/>
            <a:ext cx="2808073" cy="29515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DB450E-9CCC-8675-F970-0B26392A84E4}"/>
              </a:ext>
            </a:extLst>
          </p:cNvPr>
          <p:cNvSpPr txBox="1"/>
          <p:nvPr/>
        </p:nvSpPr>
        <p:spPr>
          <a:xfrm>
            <a:off x="4124873" y="57630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1B5B9-D7D0-0FA8-E64C-AA40A2F7A675}"/>
              </a:ext>
            </a:extLst>
          </p:cNvPr>
          <p:cNvSpPr txBox="1"/>
          <p:nvPr/>
        </p:nvSpPr>
        <p:spPr>
          <a:xfrm>
            <a:off x="5542253" y="547964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096CCA-EDAF-9AC4-7D11-CA0F0BE9ECB0}"/>
              </a:ext>
            </a:extLst>
          </p:cNvPr>
          <p:cNvGrpSpPr/>
          <p:nvPr/>
        </p:nvGrpSpPr>
        <p:grpSpPr>
          <a:xfrm rot="525620">
            <a:off x="4647247" y="4341121"/>
            <a:ext cx="1235329" cy="1332772"/>
            <a:chOff x="4470163" y="4586313"/>
            <a:chExt cx="885549" cy="89520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C4E0D5F-89BC-B0B6-897A-A2E1C6218822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07601" y="4586313"/>
              <a:ext cx="0" cy="68369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4DD9E5-6B26-8DE7-3050-6490D0E5602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42040" y="5224394"/>
              <a:ext cx="713672" cy="394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177993-06F7-A30B-58CA-F6024E108E01}"/>
                </a:ext>
              </a:extLst>
            </p:cNvPr>
            <p:cNvCxnSpPr>
              <a:cxnSpLocks/>
            </p:cNvCxnSpPr>
            <p:nvPr/>
          </p:nvCxnSpPr>
          <p:spPr>
            <a:xfrm rot="21074380" flipH="1">
              <a:off x="4470163" y="5291070"/>
              <a:ext cx="193880" cy="19044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0E9F7B-EF3E-5C00-6E5E-83B5E0E65679}"/>
              </a:ext>
            </a:extLst>
          </p:cNvPr>
          <p:cNvCxnSpPr>
            <a:cxnSpLocks/>
          </p:cNvCxnSpPr>
          <p:nvPr/>
        </p:nvCxnSpPr>
        <p:spPr>
          <a:xfrm flipV="1">
            <a:off x="4842287" y="5341182"/>
            <a:ext cx="7581" cy="58546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4555BD-8480-43B1-C470-83AA5642230E}"/>
              </a:ext>
            </a:extLst>
          </p:cNvPr>
          <p:cNvCxnSpPr>
            <a:cxnSpLocks/>
          </p:cNvCxnSpPr>
          <p:nvPr/>
        </p:nvCxnSpPr>
        <p:spPr>
          <a:xfrm>
            <a:off x="1946739" y="5926648"/>
            <a:ext cx="3014020" cy="11281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8F538-47BD-6E6B-704B-CB9CE76BCD5F}"/>
              </a:ext>
            </a:extLst>
          </p:cNvPr>
          <p:cNvSpPr/>
          <p:nvPr/>
        </p:nvSpPr>
        <p:spPr>
          <a:xfrm>
            <a:off x="4976037" y="4287032"/>
            <a:ext cx="827355" cy="406455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Rcae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C81C14-605F-91BB-77E1-4CC9EC03D6B9}"/>
              </a:ext>
            </a:extLst>
          </p:cNvPr>
          <p:cNvSpPr/>
          <p:nvPr/>
        </p:nvSpPr>
        <p:spPr>
          <a:xfrm>
            <a:off x="3785574" y="4282943"/>
            <a:ext cx="736664" cy="406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Rae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953309A-04C9-C054-8E34-59C55B7A9952}"/>
              </a:ext>
            </a:extLst>
          </p:cNvPr>
          <p:cNvSpPr/>
          <p:nvPr/>
        </p:nvSpPr>
        <p:spPr>
          <a:xfrm>
            <a:off x="4960759" y="5476265"/>
            <a:ext cx="491628" cy="763552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98B38-550A-C68B-93D3-3E0277B728BE}"/>
              </a:ext>
            </a:extLst>
          </p:cNvPr>
          <p:cNvSpPr/>
          <p:nvPr/>
        </p:nvSpPr>
        <p:spPr>
          <a:xfrm>
            <a:off x="4960759" y="6239816"/>
            <a:ext cx="1044094" cy="4064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>
                    <a:lumMod val="95000"/>
                  </a:schemeClr>
                </a:solidFill>
              </a:rPr>
              <a:t>Y Error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604CD8B-BF50-5FFD-5FBC-D6E7E2BCEB0C}"/>
              </a:ext>
            </a:extLst>
          </p:cNvPr>
          <p:cNvSpPr/>
          <p:nvPr/>
        </p:nvSpPr>
        <p:spPr>
          <a:xfrm rot="6301538">
            <a:off x="3082399" y="5461794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/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Error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blipFill>
                <a:blip r:embed="rId6"/>
                <a:stretch>
                  <a:fillRect t="-5714" r="-2286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0D7501-5E69-344B-D533-C8E9BF594282}"/>
              </a:ext>
            </a:extLst>
          </p:cNvPr>
          <p:cNvCxnSpPr>
            <a:cxnSpLocks/>
          </p:cNvCxnSpPr>
          <p:nvPr/>
        </p:nvCxnSpPr>
        <p:spPr>
          <a:xfrm flipV="1">
            <a:off x="4836348" y="5268532"/>
            <a:ext cx="2425635" cy="3317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956D6-F835-085B-C0AD-669671CF5BC0}"/>
              </a:ext>
            </a:extLst>
          </p:cNvPr>
          <p:cNvCxnSpPr>
            <a:cxnSpLocks/>
          </p:cNvCxnSpPr>
          <p:nvPr/>
        </p:nvCxnSpPr>
        <p:spPr>
          <a:xfrm flipV="1">
            <a:off x="4823962" y="5276710"/>
            <a:ext cx="2446730" cy="366098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F1043E1-251B-DC75-4996-453BFD28E363}"/>
              </a:ext>
            </a:extLst>
          </p:cNvPr>
          <p:cNvGrpSpPr/>
          <p:nvPr/>
        </p:nvGrpSpPr>
        <p:grpSpPr>
          <a:xfrm rot="21156203">
            <a:off x="6814720" y="4197957"/>
            <a:ext cx="1396891" cy="1453324"/>
            <a:chOff x="6854279" y="4258831"/>
            <a:chExt cx="1396891" cy="145332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48B33E9-5F7C-AFF4-0C07-CBB33E76D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692" y="425883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2194D7-5F26-B240-E36C-E9D56EEB8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607" y="527083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91A9AB2-2ED3-86D3-DA89-253DDC21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4279" y="527083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6031821-675C-E60F-0E7D-1167F4104B66}"/>
              </a:ext>
            </a:extLst>
          </p:cNvPr>
          <p:cNvSpPr txBox="1"/>
          <p:nvPr/>
        </p:nvSpPr>
        <p:spPr>
          <a:xfrm>
            <a:off x="6928121" y="547626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F3DD1-EC86-D0A5-4AE7-820A65CF31B2}"/>
              </a:ext>
            </a:extLst>
          </p:cNvPr>
          <p:cNvSpPr txBox="1"/>
          <p:nvPr/>
        </p:nvSpPr>
        <p:spPr>
          <a:xfrm>
            <a:off x="6826916" y="404998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E0B86-223B-3E50-BB7F-9A2C9812CFF6}"/>
              </a:ext>
            </a:extLst>
          </p:cNvPr>
          <p:cNvSpPr txBox="1"/>
          <p:nvPr/>
        </p:nvSpPr>
        <p:spPr>
          <a:xfrm>
            <a:off x="7928124" y="516229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/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𝑶𝒓𝒊𝒈𝒊𝒏</m:t>
                      </m:r>
                    </m:oMath>
                  </m:oMathPara>
                </a14:m>
                <a:endParaRPr lang="en-US" sz="1600" b="1" i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blipFill>
                <a:blip r:embed="rId7"/>
                <a:stretch>
                  <a:fillRect l="-8594" r="-1563" b="-29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/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Correction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blipFill>
                <a:blip r:embed="rId8"/>
                <a:stretch>
                  <a:fillRect t="-4286" r="-369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5D1D933-3ADA-76D5-71E7-F031D8548E79}"/>
              </a:ext>
            </a:extLst>
          </p:cNvPr>
          <p:cNvSpPr/>
          <p:nvPr/>
        </p:nvSpPr>
        <p:spPr>
          <a:xfrm rot="15762343">
            <a:off x="6352156" y="5341193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CC2BCA-4FD3-E92F-7E16-3A8992133B84}"/>
              </a:ext>
            </a:extLst>
          </p:cNvPr>
          <p:cNvSpPr txBox="1"/>
          <p:nvPr/>
        </p:nvSpPr>
        <p:spPr>
          <a:xfrm>
            <a:off x="5912960" y="5365818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783979-9D41-8ED7-BF20-8FAC5FEBE7B1}"/>
              </a:ext>
            </a:extLst>
          </p:cNvPr>
          <p:cNvSpPr txBox="1"/>
          <p:nvPr/>
        </p:nvSpPr>
        <p:spPr>
          <a:xfrm>
            <a:off x="3163743" y="585820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C27132-D56A-C077-7A1A-07B245A062C4}"/>
              </a:ext>
            </a:extLst>
          </p:cNvPr>
          <p:cNvGrpSpPr/>
          <p:nvPr/>
        </p:nvGrpSpPr>
        <p:grpSpPr>
          <a:xfrm>
            <a:off x="7270692" y="4245152"/>
            <a:ext cx="995563" cy="1017879"/>
            <a:chOff x="7408007" y="4411231"/>
            <a:chExt cx="995563" cy="1017879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9059B3-5E44-CEFF-5682-B78BD97FB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092" y="4411231"/>
              <a:ext cx="0" cy="1017879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1B7A660-0F7D-FD67-3979-89357F1A8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8007" y="5423232"/>
              <a:ext cx="995563" cy="5878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/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Y Error INCREASES 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Corrector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blipFill>
                <a:blip r:embed="rId9"/>
                <a:stretch>
                  <a:fillRect t="-4237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1666937-740D-0B2F-7253-E1ED25CA7522}"/>
              </a:ext>
            </a:extLst>
          </p:cNvPr>
          <p:cNvSpPr txBox="1"/>
          <p:nvPr/>
        </p:nvSpPr>
        <p:spPr>
          <a:xfrm>
            <a:off x="3852517" y="534945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78F92-F5F8-9F72-830C-227F17F7FA76}"/>
              </a:ext>
            </a:extLst>
          </p:cNvPr>
          <p:cNvSpPr txBox="1"/>
          <p:nvPr/>
        </p:nvSpPr>
        <p:spPr>
          <a:xfrm>
            <a:off x="5748076" y="493888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2DB91C-647B-2954-BDDA-15B39DD011E4}"/>
              </a:ext>
            </a:extLst>
          </p:cNvPr>
          <p:cNvSpPr txBox="1"/>
          <p:nvPr/>
        </p:nvSpPr>
        <p:spPr>
          <a:xfrm>
            <a:off x="4843449" y="492280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106A83-3079-B111-C307-0BAB8DD5F41E}"/>
                  </a:ext>
                </a:extLst>
              </p:cNvPr>
              <p:cNvSpPr/>
              <p:nvPr/>
            </p:nvSpPr>
            <p:spPr>
              <a:xfrm>
                <a:off x="1231868" y="1004125"/>
                <a:ext cx="10205605" cy="63264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error corrected to 2.5mrad with corrector located 1 unit from POI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106A83-3079-B111-C307-0BAB8DD5F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868" y="1004125"/>
                <a:ext cx="10205605" cy="632646"/>
              </a:xfrm>
              <a:prstGeom prst="rect">
                <a:avLst/>
              </a:prstGeom>
              <a:blipFill>
                <a:blip r:embed="rId10"/>
                <a:stretch>
                  <a:fillRect l="-835" r="-1312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1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696C-AD68-AAB9-3CA9-EC15EAAD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A7FD-707C-0FCC-37C7-3FC7540D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Application: Telescope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F082-5F0F-E9B5-3440-D129E9EC1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742" y="5428018"/>
            <a:ext cx="10018713" cy="9453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  <a:r>
              <a:rPr lang="en-US" dirty="0"/>
              <a:t>: Determine if the focusing optics of this telescope can be assembled with respect to mechanical datums using mechanical tolerances or require alignment.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535883-CA6C-1F25-136B-AEED0D65A16B}"/>
              </a:ext>
            </a:extLst>
          </p:cNvPr>
          <p:cNvGrpSpPr/>
          <p:nvPr/>
        </p:nvGrpSpPr>
        <p:grpSpPr>
          <a:xfrm>
            <a:off x="10379555" y="706414"/>
            <a:ext cx="1487389" cy="1257552"/>
            <a:chOff x="1195058" y="2634558"/>
            <a:chExt cx="3485584" cy="2182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3695D-4249-DFC4-7930-9C4AF0790AB7}"/>
                </a:ext>
              </a:extLst>
            </p:cNvPr>
            <p:cNvGrpSpPr/>
            <p:nvPr/>
          </p:nvGrpSpPr>
          <p:grpSpPr>
            <a:xfrm rot="1035470">
              <a:off x="1195058" y="2634558"/>
              <a:ext cx="3485584" cy="697118"/>
              <a:chOff x="2136618" y="2399168"/>
              <a:chExt cx="3485584" cy="6971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D6EEF9-634F-E9B0-A7DA-9ACEDB6E58D9}"/>
                  </a:ext>
                </a:extLst>
              </p:cNvPr>
              <p:cNvSpPr/>
              <p:nvPr/>
            </p:nvSpPr>
            <p:spPr>
              <a:xfrm>
                <a:off x="2136618" y="239916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CCB93E6-8766-D160-D8C5-EAB979306CC1}"/>
                  </a:ext>
                </a:extLst>
              </p:cNvPr>
              <p:cNvSpPr/>
              <p:nvPr/>
            </p:nvSpPr>
            <p:spPr>
              <a:xfrm>
                <a:off x="4888872" y="2602871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EEA58A-3E9F-14A8-9F4A-1641B933E4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0649" y="3425384"/>
              <a:ext cx="664538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01A824-72B5-0BF5-9A10-5FD13DE0474F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87" y="3425384"/>
              <a:ext cx="476199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323E75-0508-4A4F-AA95-8730B9347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373" y="4817340"/>
              <a:ext cx="244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D869E5-CD60-63E6-5050-F371ECBF0587}"/>
              </a:ext>
            </a:extLst>
          </p:cNvPr>
          <p:cNvGrpSpPr/>
          <p:nvPr/>
        </p:nvGrpSpPr>
        <p:grpSpPr>
          <a:xfrm>
            <a:off x="1304214" y="1219590"/>
            <a:ext cx="6296651" cy="2515926"/>
            <a:chOff x="1366063" y="1238995"/>
            <a:chExt cx="6296651" cy="25159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E3EE9D-BEDB-09F9-923F-A5CC0B62E35A}"/>
                </a:ext>
              </a:extLst>
            </p:cNvPr>
            <p:cNvGrpSpPr/>
            <p:nvPr/>
          </p:nvGrpSpPr>
          <p:grpSpPr>
            <a:xfrm>
              <a:off x="1751230" y="1339625"/>
              <a:ext cx="3485339" cy="697118"/>
              <a:chOff x="5570182" y="2767288"/>
              <a:chExt cx="3485339" cy="6971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A7EE3D-2CB4-FFA0-68E8-F17D1D65CB09}"/>
                  </a:ext>
                </a:extLst>
              </p:cNvPr>
              <p:cNvSpPr/>
              <p:nvPr/>
            </p:nvSpPr>
            <p:spPr>
              <a:xfrm>
                <a:off x="5570182" y="276728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0155A1-EFD6-54D9-B6A4-2A2A3D66FDCF}"/>
                  </a:ext>
                </a:extLst>
              </p:cNvPr>
              <p:cNvSpPr/>
              <p:nvPr/>
            </p:nvSpPr>
            <p:spPr>
              <a:xfrm>
                <a:off x="8322191" y="3000289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D785541-B21C-48CD-E499-7A8E2F5475F9}"/>
                </a:ext>
              </a:extLst>
            </p:cNvPr>
            <p:cNvCxnSpPr>
              <a:cxnSpLocks/>
              <a:stCxn id="18" idx="0"/>
              <a:endCxn id="15" idx="2"/>
            </p:cNvCxnSpPr>
            <p:nvPr/>
          </p:nvCxnSpPr>
          <p:spPr>
            <a:xfrm flipV="1">
              <a:off x="2109758" y="2141280"/>
              <a:ext cx="153153" cy="11283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386D0B-7632-0271-9C1B-7ECDED467F2D}"/>
                </a:ext>
              </a:extLst>
            </p:cNvPr>
            <p:cNvSpPr/>
            <p:nvPr/>
          </p:nvSpPr>
          <p:spPr>
            <a:xfrm>
              <a:off x="1672370" y="1242902"/>
              <a:ext cx="1181082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30CF40-A91E-4F87-986B-09BE0E3D9BD6}"/>
                </a:ext>
              </a:extLst>
            </p:cNvPr>
            <p:cNvSpPr/>
            <p:nvPr/>
          </p:nvSpPr>
          <p:spPr>
            <a:xfrm>
              <a:off x="2932311" y="1238995"/>
              <a:ext cx="1487389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3C7155-E760-B6FD-BDE8-2C18DA46158D}"/>
                </a:ext>
              </a:extLst>
            </p:cNvPr>
            <p:cNvSpPr/>
            <p:nvPr/>
          </p:nvSpPr>
          <p:spPr>
            <a:xfrm>
              <a:off x="4582343" y="1436249"/>
              <a:ext cx="594726" cy="56246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EDEA2F-8E9F-F684-E7A9-180F29643014}"/>
                </a:ext>
              </a:extLst>
            </p:cNvPr>
            <p:cNvSpPr/>
            <p:nvPr/>
          </p:nvSpPr>
          <p:spPr>
            <a:xfrm>
              <a:off x="1366063" y="3269580"/>
              <a:ext cx="1487389" cy="4853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Focusing Optics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303C531-112F-0091-7C83-D6BC217178E4}"/>
                </a:ext>
              </a:extLst>
            </p:cNvPr>
            <p:cNvCxnSpPr>
              <a:cxnSpLocks/>
              <a:stCxn id="20" idx="0"/>
              <a:endCxn id="16" idx="2"/>
            </p:cNvCxnSpPr>
            <p:nvPr/>
          </p:nvCxnSpPr>
          <p:spPr>
            <a:xfrm flipV="1">
              <a:off x="3676006" y="2137373"/>
              <a:ext cx="0" cy="30513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AE069-E32E-F9E9-4D5E-D0F43A672C28}"/>
                </a:ext>
              </a:extLst>
            </p:cNvPr>
            <p:cNvSpPr/>
            <p:nvPr/>
          </p:nvSpPr>
          <p:spPr>
            <a:xfrm>
              <a:off x="2740481" y="2442503"/>
              <a:ext cx="1871050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Aberration Correction Optics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0C4CAE-2AA7-F957-B454-EFEE3A3D43D2}"/>
                </a:ext>
              </a:extLst>
            </p:cNvPr>
            <p:cNvCxnSpPr>
              <a:cxnSpLocks/>
              <a:stCxn id="22" idx="1"/>
              <a:endCxn id="17" idx="3"/>
            </p:cNvCxnSpPr>
            <p:nvPr/>
          </p:nvCxnSpPr>
          <p:spPr>
            <a:xfrm flipH="1">
              <a:off x="5177069" y="1711073"/>
              <a:ext cx="753586" cy="64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4E7324-6CB8-C785-7BE6-FDCCDB0A0F21}"/>
                </a:ext>
              </a:extLst>
            </p:cNvPr>
            <p:cNvSpPr/>
            <p:nvPr/>
          </p:nvSpPr>
          <p:spPr>
            <a:xfrm>
              <a:off x="5930655" y="1449387"/>
              <a:ext cx="1732059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Eyepiece Imaging Optics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8A8B47D-90D5-83E3-A022-808685A6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58" y="2496620"/>
            <a:ext cx="6587247" cy="247275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AFEB16-BBFD-600B-452F-7A08F68B401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2791603" y="3492846"/>
            <a:ext cx="2445055" cy="24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46CD1-C71C-AA2E-9D2E-84411EF0ECC2}"/>
              </a:ext>
            </a:extLst>
          </p:cNvPr>
          <p:cNvSpPr/>
          <p:nvPr/>
        </p:nvSpPr>
        <p:spPr>
          <a:xfrm>
            <a:off x="6175405" y="4969371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8103CC-FF6D-63BA-E430-C881C7C850E5}"/>
              </a:ext>
            </a:extLst>
          </p:cNvPr>
          <p:cNvSpPr/>
          <p:nvPr/>
        </p:nvSpPr>
        <p:spPr>
          <a:xfrm>
            <a:off x="9487896" y="4962615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101950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ABD3-65CC-6DD6-BEC2-0152E8C6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F0F0-E5C1-3070-DAB8-19A32E7B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Telescope Objective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47AE4A-BD7D-54D9-5D61-2C31A18ED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53510"/>
              </p:ext>
            </p:extLst>
          </p:nvPr>
        </p:nvGraphicFramePr>
        <p:xfrm>
          <a:off x="2771149" y="1199265"/>
          <a:ext cx="7442892" cy="2440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92596">
                  <a:extLst>
                    <a:ext uri="{9D8B030D-6E8A-4147-A177-3AD203B41FA5}">
                      <a16:colId xmlns:a16="http://schemas.microsoft.com/office/drawing/2014/main" val="1725059062"/>
                    </a:ext>
                  </a:extLst>
                </a:gridCol>
                <a:gridCol w="1270990">
                  <a:extLst>
                    <a:ext uri="{9D8B030D-6E8A-4147-A177-3AD203B41FA5}">
                      <a16:colId xmlns:a16="http://schemas.microsoft.com/office/drawing/2014/main" val="1458117355"/>
                    </a:ext>
                  </a:extLst>
                </a:gridCol>
                <a:gridCol w="1079306">
                  <a:extLst>
                    <a:ext uri="{9D8B030D-6E8A-4147-A177-3AD203B41FA5}">
                      <a16:colId xmlns:a16="http://schemas.microsoft.com/office/drawing/2014/main" val="3012180553"/>
                    </a:ext>
                  </a:extLst>
                </a:gridCol>
              </a:tblGrid>
              <a:tr h="2719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Requirement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Value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Unit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250231"/>
                  </a:ext>
                </a:extLst>
              </a:tr>
              <a:tr h="4894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must be within 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±</a:t>
                      </a: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N-sigma distribution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861837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Mirror, and Pinhole Centration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x,y,z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 </a:t>
                      </a:r>
                      <a:endParaRPr lang="en-US" sz="18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53559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 Orientation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(Tx, Ty,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Tz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25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21617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E464CF2-D75B-893E-389F-AE70ADF4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972" y="3839477"/>
            <a:ext cx="6587247" cy="2472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2555CC-C45A-6CC2-7BEC-46935297DB53}"/>
              </a:ext>
            </a:extLst>
          </p:cNvPr>
          <p:cNvSpPr/>
          <p:nvPr/>
        </p:nvSpPr>
        <p:spPr>
          <a:xfrm>
            <a:off x="4113141" y="6318984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B4DFC-EBCB-1A85-6730-961925A6A150}"/>
              </a:ext>
            </a:extLst>
          </p:cNvPr>
          <p:cNvSpPr/>
          <p:nvPr/>
        </p:nvSpPr>
        <p:spPr>
          <a:xfrm>
            <a:off x="7532637" y="6312228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422230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1B44-89E7-B833-45CB-3E05B082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AF5D-8AB9-F211-D5BE-8122DA3A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System Error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0FDB-D32B-0993-1E74-A8211165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1847851"/>
            <a:ext cx="4411579" cy="3943350"/>
          </a:xfrm>
        </p:spPr>
        <p:txBody>
          <a:bodyPr/>
          <a:lstStyle/>
          <a:p>
            <a:r>
              <a:rPr lang="en-US" dirty="0"/>
              <a:t>3 transform paths from each optic center to mechanical datums.</a:t>
            </a:r>
          </a:p>
          <a:p>
            <a:r>
              <a:rPr lang="en-US" dirty="0"/>
              <a:t>Each feature has tolerances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80E29-50C2-DCDB-DC4C-8FBC3FEE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70" y="1724026"/>
            <a:ext cx="62007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07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3CD4-1653-E04D-E0CE-0EC74169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2CED-4A42-759D-4168-8550285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1ECD8-C6B5-1DF2-DA34-86C3F55D8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0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1586D-5B9F-AA70-1741-4927518E9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883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014B7-1290-96C2-AF34-0DA396305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690" y="3968473"/>
            <a:ext cx="3312333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507E4-0C5C-366C-ED1A-16DEB0A80F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0" y="4817349"/>
            <a:ext cx="6706380" cy="11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C2C382-92BE-D7E8-B005-D724C2C418DC}"/>
              </a:ext>
            </a:extLst>
          </p:cNvPr>
          <p:cNvSpPr/>
          <p:nvPr/>
        </p:nvSpPr>
        <p:spPr>
          <a:xfrm>
            <a:off x="8665599" y="5147066"/>
            <a:ext cx="3206168" cy="7016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not met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4A302-CD45-910C-EF4E-90932C77A44A}"/>
              </a:ext>
            </a:extLst>
          </p:cNvPr>
          <p:cNvSpPr/>
          <p:nvPr/>
        </p:nvSpPr>
        <p:spPr>
          <a:xfrm>
            <a:off x="4478901" y="5793009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211D-4E67-C083-8B18-B2D8A85A3929}"/>
              </a:ext>
            </a:extLst>
          </p:cNvPr>
          <p:cNvSpPr/>
          <p:nvPr/>
        </p:nvSpPr>
        <p:spPr>
          <a:xfrm>
            <a:off x="4478901" y="5576602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26E33-AAA2-C3E3-BA8F-36C6C31BB9D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190690" y="5497897"/>
            <a:ext cx="474909" cy="142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419DD-0ABC-E974-2429-AE64C18E8DD6}"/>
              </a:ext>
            </a:extLst>
          </p:cNvPr>
          <p:cNvSpPr/>
          <p:nvPr/>
        </p:nvSpPr>
        <p:spPr>
          <a:xfrm>
            <a:off x="4478901" y="5356912"/>
            <a:ext cx="1260418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CD2E2-549D-A76D-3810-A9AF3DD69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310" y="963040"/>
            <a:ext cx="10018713" cy="2998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3A13F-85F9-4C39-5A40-7773380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812" y="1682178"/>
            <a:ext cx="1472852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F065C6-5B2E-5DD0-13B6-1C78A95513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682177"/>
            <a:ext cx="154305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02ECFF-7E5E-A5C3-D651-8BE89D9D13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300" y="1682177"/>
            <a:ext cx="1508216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89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C6C3-52D6-98F2-3940-D848EC3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DF38-63FB-5EF3-57C8-F6C88B4C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 Histograms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B8468-35DA-6689-9413-491A6113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1066800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7CBDD-ABB7-0AE4-2C8A-45C3899BE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2806538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6588A-DEC4-8683-5DFD-BD5F970E9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4546276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471BA4-79DB-BDDF-D695-04512F5F93D2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B23B9-C712-4CF2-63F7-F843C027E753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CCCCD-A0D1-DEDA-A651-C4559AD9E304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77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5FB5-CB18-04E9-4167-D448FA28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825E410-48F2-6B41-4DC7-069EA311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6" y="4930510"/>
            <a:ext cx="6372225" cy="34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8A43A8-D8B3-9228-ECA9-A8A595FDB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36" y="5287028"/>
            <a:ext cx="6372224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BABCDA-46BE-0BB4-C69A-D31F6906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19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1B1EB8-48D9-40B1-E7B9-E4BCF3D856E9}"/>
              </a:ext>
            </a:extLst>
          </p:cNvPr>
          <p:cNvSpPr/>
          <p:nvPr/>
        </p:nvSpPr>
        <p:spPr>
          <a:xfrm>
            <a:off x="9040218" y="5867911"/>
            <a:ext cx="2377571" cy="5513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met</a:t>
            </a:r>
          </a:p>
        </p:txBody>
      </p:sp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030F96-D966-3020-CAC9-808D6B55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736" y="962391"/>
            <a:ext cx="9459885" cy="2831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DD715A-1A5C-00D0-1F97-66F4C7E6D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37" y="3807405"/>
            <a:ext cx="3173206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EFEAC38-1D91-2BC5-D1AC-3DC736C04D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53" y="3807405"/>
            <a:ext cx="3141317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0FB0E4-48F4-7376-C76C-28A270972C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81" y="3800209"/>
            <a:ext cx="3126340" cy="772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EA2FEFE-84A1-94BD-EA25-FA9E7BFE2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736" y="4586294"/>
            <a:ext cx="6372224" cy="352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E91ABBD-FEDD-B8A3-DAD8-A50B73E98D0D}"/>
              </a:ext>
            </a:extLst>
          </p:cNvPr>
          <p:cNvSpPr/>
          <p:nvPr/>
        </p:nvSpPr>
        <p:spPr>
          <a:xfrm>
            <a:off x="4566451" y="4572676"/>
            <a:ext cx="1114502" cy="20073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EA14D1-965E-87E6-FD1D-41A0B68D562C}"/>
              </a:ext>
            </a:extLst>
          </p:cNvPr>
          <p:cNvSpPr/>
          <p:nvPr/>
        </p:nvSpPr>
        <p:spPr>
          <a:xfrm>
            <a:off x="4566451" y="4917850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C8E509-978A-2A56-0DC7-6C05B527BC84}"/>
              </a:ext>
            </a:extLst>
          </p:cNvPr>
          <p:cNvSpPr/>
          <p:nvPr/>
        </p:nvSpPr>
        <p:spPr>
          <a:xfrm>
            <a:off x="4566451" y="5304164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2ED557-4B90-15CF-988F-C60B361FB15F}"/>
              </a:ext>
            </a:extLst>
          </p:cNvPr>
          <p:cNvCxnSpPr>
            <a:cxnSpLocks/>
            <a:stCxn id="13" idx="1"/>
            <a:endCxn id="55" idx="3"/>
          </p:cNvCxnSpPr>
          <p:nvPr/>
        </p:nvCxnSpPr>
        <p:spPr>
          <a:xfrm flipH="1">
            <a:off x="7985961" y="6143608"/>
            <a:ext cx="1054257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A800C2E-1B8A-EB71-732E-43D00F73E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737" y="5672121"/>
            <a:ext cx="6372224" cy="94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3573D42-6B3F-4F91-08CA-BE9047AEF1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901" y="1613774"/>
            <a:ext cx="135255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7B0109-F13E-81DB-DCE9-DD8D959D1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76" y="1626658"/>
            <a:ext cx="1285875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333F21-E3AA-302B-C1C2-D84DBE5F1B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0451" y="1626658"/>
            <a:ext cx="1247775" cy="581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313B9-17E4-75D4-816E-29E9CDAD49F6}"/>
              </a:ext>
            </a:extLst>
          </p:cNvPr>
          <p:cNvSpPr/>
          <p:nvPr/>
        </p:nvSpPr>
        <p:spPr>
          <a:xfrm>
            <a:off x="8544861" y="4949903"/>
            <a:ext cx="2033403" cy="2839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Correctors Used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1E712A-C138-8038-3374-19393A61B14D}"/>
              </a:ext>
            </a:extLst>
          </p:cNvPr>
          <p:cNvCxnSpPr>
            <a:cxnSpLocks/>
            <a:stCxn id="4" idx="1"/>
            <a:endCxn id="45" idx="3"/>
          </p:cNvCxnSpPr>
          <p:nvPr/>
        </p:nvCxnSpPr>
        <p:spPr>
          <a:xfrm flipH="1">
            <a:off x="7985961" y="5091875"/>
            <a:ext cx="558900" cy="100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83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C412-D880-670E-EF61-3437121B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601F-6CEB-108B-8692-AE828A62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 Histograms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D15B-2E7B-D43C-BB8D-9BD179FEEF13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84289-EBDD-4897-7947-ACCB0230831D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5546F-706E-7F18-2BCF-C0F40BD113CB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58B8E-1842-703D-BE5A-121E2E8EC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1125159"/>
            <a:ext cx="6971865" cy="16813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19FB95-9023-E5F4-9740-41F8CA1B8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2806539"/>
            <a:ext cx="6971865" cy="1698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8EA90-7E7B-CEAA-651D-767A558D6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8" y="4507348"/>
            <a:ext cx="6971865" cy="1722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4351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9484-2B01-2177-3281-E4FEFBA3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6A46-4234-222F-0C22-D6D420FD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C64D-AA33-84BE-90B3-DC45BC3D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Script is a powerful addition to the ME’s toolbox for rapid tolerance analysis and determination of required corrector axes and ranges</a:t>
            </a:r>
          </a:p>
          <a:p>
            <a:r>
              <a:rPr lang="en-US" dirty="0"/>
              <a:t>Script is open sourced and may be plugged into custom analyses in MATLAB, however, functions well for studies completely built in Excel for non-programmers.</a:t>
            </a:r>
          </a:p>
          <a:p>
            <a:r>
              <a:rPr lang="en-US" dirty="0"/>
              <a:t>Systems of high complexity may be modeled with a few bridges in Excel called the “Math Model”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5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1FA2-5689-AB90-E5F3-6DC94C4C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8763-2418-5C27-7D2F-2C1F128B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5939-78C1-A455-96AF-D9541E90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4193026"/>
          </a:xfrm>
        </p:spPr>
        <p:txBody>
          <a:bodyPr/>
          <a:lstStyle/>
          <a:p>
            <a:r>
              <a:rPr lang="en-US" dirty="0"/>
              <a:t>Embed macro into Excel and pre-compile MATLAB script</a:t>
            </a:r>
          </a:p>
          <a:p>
            <a:r>
              <a:rPr lang="en-US" dirty="0"/>
              <a:t>Add sensitivity input option for non-mechanical error analysis</a:t>
            </a:r>
          </a:p>
          <a:p>
            <a:r>
              <a:rPr lang="en-US" dirty="0"/>
              <a:t>Add ability to change input error distribution types</a:t>
            </a:r>
          </a:p>
          <a:p>
            <a:r>
              <a:rPr lang="en-US" dirty="0"/>
              <a:t>Add code smarts to suggest corrector range and resolution when given requirements.</a:t>
            </a:r>
          </a:p>
          <a:p>
            <a:r>
              <a:rPr lang="en-US" dirty="0"/>
              <a:t>Add code smart to use corrector 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± centered at zero instead of always +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code smarts to configure solutions steps based on input complexity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80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3DC4-66D2-2859-23B4-34B1C152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3DC0-7BC8-7C33-4FF7-91E1DC659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52E81-7B61-6C22-8715-9DA8E53F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4193026"/>
          </a:xfrm>
        </p:spPr>
        <p:txBody>
          <a:bodyPr/>
          <a:lstStyle/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Joint Committee for Guides in Metrology. Evaluation of measurement data – Guide to the expression of uncertainty in measurement. 2008.</a:t>
            </a:r>
          </a:p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A. H. Slocum, Precision Machine Design. Prentice-Hall, Inc., 1992.</a:t>
            </a:r>
          </a:p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Duenner</a:t>
            </a: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, Andrew C. An Error Budgeting Framework for Engineering Design. Massachusetts Institute of Technology. </a:t>
            </a:r>
            <a:r>
              <a:rPr lang="en-US" sz="180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2019. </a:t>
            </a:r>
          </a:p>
        </p:txBody>
      </p:sp>
    </p:spTree>
    <p:extLst>
      <p:ext uri="{BB962C8B-B14F-4D97-AF65-F5344CB8AC3E}">
        <p14:creationId xmlns:p14="http://schemas.microsoft.com/office/powerpoint/2010/main" val="2213950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2830</TotalTime>
  <Words>2005</Words>
  <Application>Microsoft Office PowerPoint</Application>
  <PresentationFormat>Widescreen</PresentationFormat>
  <Paragraphs>333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Abadi</vt:lpstr>
      <vt:lpstr>Aptos</vt:lpstr>
      <vt:lpstr>Arial</vt:lpstr>
      <vt:lpstr>ASIKZH+ArialMT</vt:lpstr>
      <vt:lpstr>Calibri</vt:lpstr>
      <vt:lpstr>Cambria Math</vt:lpstr>
      <vt:lpstr>Corbel</vt:lpstr>
      <vt:lpstr>Univers</vt:lpstr>
      <vt:lpstr>Parallax</vt:lpstr>
      <vt:lpstr>APPLICATION FOR APPLYING CORRECTORS WITH COUPLED ERROR TO TOLERANCE ANALYSIS</vt:lpstr>
      <vt:lpstr>Error Budgets and Why they are Feared</vt:lpstr>
      <vt:lpstr>Error Budget Definitions</vt:lpstr>
      <vt:lpstr>Generalized Error Analysis with Coupled Motion</vt:lpstr>
      <vt:lpstr>Application Overview</vt:lpstr>
      <vt:lpstr>PowerPoint Presentation</vt:lpstr>
      <vt:lpstr>Error Model by HTM</vt:lpstr>
      <vt:lpstr>Error Corrector Definition</vt:lpstr>
      <vt:lpstr>Error Correcting by HTM</vt:lpstr>
      <vt:lpstr>Model Validation 1</vt:lpstr>
      <vt:lpstr>Model Validation 2</vt:lpstr>
      <vt:lpstr>Application: Telescope Objective</vt:lpstr>
      <vt:lpstr>Telescope Objective Requirements</vt:lpstr>
      <vt:lpstr>System Error Model</vt:lpstr>
      <vt:lpstr>Fixed Optic Model Outputs</vt:lpstr>
      <vt:lpstr>Fixed Optic Model Output Histograms</vt:lpstr>
      <vt:lpstr>Aligned Optic Model Outputs</vt:lpstr>
      <vt:lpstr>Aligned Optic Model Output Histograms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3</cp:revision>
  <dcterms:created xsi:type="dcterms:W3CDTF">2025-07-08T01:57:53Z</dcterms:created>
  <dcterms:modified xsi:type="dcterms:W3CDTF">2025-07-15T04:25:20Z</dcterms:modified>
</cp:coreProperties>
</file>