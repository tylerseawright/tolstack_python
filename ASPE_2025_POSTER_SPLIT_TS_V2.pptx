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32918400" cy="4023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" d="100"/>
          <a:sy n="10" d="100"/>
        </p:scale>
        <p:origin x="3858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E2AF0183-2FCA-431D-8E1C-554FDAF8BA74}"/>
    <pc:docChg chg="custSel modSld">
      <pc:chgData name="Seawright, Tyler" userId="0d679dc6-d022-4613-aaa8-d4a403513003" providerId="ADAL" clId="{E2AF0183-2FCA-431D-8E1C-554FDAF8BA74}" dt="2025-10-22T19:47:24.111" v="0" actId="478"/>
      <pc:docMkLst>
        <pc:docMk/>
      </pc:docMkLst>
      <pc:sldChg chg="delSp modSp mod">
        <pc:chgData name="Seawright, Tyler" userId="0d679dc6-d022-4613-aaa8-d4a403513003" providerId="ADAL" clId="{E2AF0183-2FCA-431D-8E1C-554FDAF8BA74}" dt="2025-10-22T19:47:24.111" v="0" actId="478"/>
        <pc:sldMkLst>
          <pc:docMk/>
          <pc:sldMk cId="1712972677" sldId="256"/>
        </pc:sldMkLst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4" creationId="{CF6DAD21-9BBF-DABD-4BCE-101EF417D1A5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5" creationId="{403E9DA6-DCB4-C8D2-0725-B0EAFBE51737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37" creationId="{844F9434-B7F2-3A11-8ACF-8A434213C9A5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48" creationId="{EC9EF65A-5541-F20A-1FD0-9119FDF603A7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63" creationId="{25E41591-AD95-4C8A-5FA1-3CE413EBB0FE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83" creationId="{A0D99069-8127-462C-C7BB-352D1EA7FB0E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84" creationId="{886605BB-2426-1A2C-1710-AA38A13097F1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85" creationId="{8CAC87CA-A339-DFBF-4BD3-9F887FC5EF21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87" creationId="{B31F9822-598A-30ED-2B7B-D39C6C550AAC}"/>
          </ac:spMkLst>
        </pc:spChg>
        <pc:spChg chg="del">
          <ac:chgData name="Seawright, Tyler" userId="0d679dc6-d022-4613-aaa8-d4a403513003" providerId="ADAL" clId="{E2AF0183-2FCA-431D-8E1C-554FDAF8BA74}" dt="2025-10-22T19:47:24.111" v="0" actId="478"/>
          <ac:spMkLst>
            <pc:docMk/>
            <pc:sldMk cId="1712972677" sldId="256"/>
            <ac:spMk id="188" creationId="{E5D756D0-95C7-E6B8-8F07-76EE89FA26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584530"/>
            <a:ext cx="27980640" cy="14007253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1131956"/>
            <a:ext cx="24688800" cy="9713804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8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4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030472"/>
            <a:ext cx="28392120" cy="1673605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6924858"/>
            <a:ext cx="28392120" cy="88010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35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0710333"/>
            <a:ext cx="13990320" cy="25527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0710333"/>
            <a:ext cx="13990320" cy="25527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4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142076"/>
            <a:ext cx="28392120" cy="7776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9862823"/>
            <a:ext cx="13926024" cy="483361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4696440"/>
            <a:ext cx="13926024" cy="21616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9862823"/>
            <a:ext cx="13994608" cy="483361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4696440"/>
            <a:ext cx="13994608" cy="21616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6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2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46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682240"/>
            <a:ext cx="10617041" cy="938784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5792902"/>
            <a:ext cx="16664940" cy="28591933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2070080"/>
            <a:ext cx="10617041" cy="22361316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6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682240"/>
            <a:ext cx="10617041" cy="938784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5792902"/>
            <a:ext cx="16664940" cy="28591933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2070080"/>
            <a:ext cx="10617041" cy="22361316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3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7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142067"/>
            <a:ext cx="7098030" cy="340961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142067"/>
            <a:ext cx="20882610" cy="340961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4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142076"/>
            <a:ext cx="28392120" cy="7776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0710333"/>
            <a:ext cx="28392120" cy="25527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37290595"/>
            <a:ext cx="7406640" cy="2142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81BAA-25BA-47A1-B6AB-1693DB21344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37290595"/>
            <a:ext cx="11109960" cy="2142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37290595"/>
            <a:ext cx="7406640" cy="2142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AEDCF-AC13-49B8-96A2-F067EB7B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2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2.jpeg"/><Relationship Id="rId21" Type="http://schemas.openxmlformats.org/officeDocument/2006/relationships/image" Target="../media/image13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2.png"/><Relationship Id="rId25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15" Type="http://schemas.openxmlformats.org/officeDocument/2006/relationships/image" Target="../media/image4.jpeg"/><Relationship Id="rId23" Type="http://schemas.openxmlformats.org/officeDocument/2006/relationships/image" Target="../media/image18.png"/><Relationship Id="rId28" Type="http://schemas.openxmlformats.org/officeDocument/2006/relationships/image" Target="../media/image19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4.png"/><Relationship Id="rId27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hyperlink" Target="https://github.com/TylerSeawright/TolStac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11" Type="http://schemas.openxmlformats.org/officeDocument/2006/relationships/image" Target="../media/image29.emf"/><Relationship Id="rId5" Type="http://schemas.openxmlformats.org/officeDocument/2006/relationships/image" Target="../media/image23.emf"/><Relationship Id="rId15" Type="http://schemas.openxmlformats.org/officeDocument/2006/relationships/image" Target="../media/image33.png"/><Relationship Id="rId10" Type="http://schemas.openxmlformats.org/officeDocument/2006/relationships/image" Target="../media/image28.emf"/><Relationship Id="rId4" Type="http://schemas.openxmlformats.org/officeDocument/2006/relationships/image" Target="../media/image22.emf"/><Relationship Id="rId9" Type="http://schemas.openxmlformats.org/officeDocument/2006/relationships/image" Target="../media/image27.emf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782C6-6D14-2CB1-4149-1BAA5A02D9FA}"/>
              </a:ext>
            </a:extLst>
          </p:cNvPr>
          <p:cNvSpPr>
            <a:spLocks/>
          </p:cNvSpPr>
          <p:nvPr/>
        </p:nvSpPr>
        <p:spPr>
          <a:xfrm>
            <a:off x="0" y="0"/>
            <a:ext cx="32913837" cy="402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78B2F-1368-4BCC-9194-AFCC5BE5428F}"/>
              </a:ext>
            </a:extLst>
          </p:cNvPr>
          <p:cNvSpPr txBox="1"/>
          <p:nvPr/>
        </p:nvSpPr>
        <p:spPr>
          <a:xfrm>
            <a:off x="-4563" y="263358"/>
            <a:ext cx="40233600" cy="1015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1" b="1" dirty="0"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6001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DEFFD-7599-FE17-A763-2B8A91962A89}"/>
              </a:ext>
            </a:extLst>
          </p:cNvPr>
          <p:cNvSpPr txBox="1"/>
          <p:nvPr/>
        </p:nvSpPr>
        <p:spPr>
          <a:xfrm>
            <a:off x="903658" y="2091152"/>
            <a:ext cx="12692377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APPLICATION WORKFLOW IN EXCEL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0657D-7EEB-06EE-6315-B982FF19ECEF}"/>
              </a:ext>
            </a:extLst>
          </p:cNvPr>
          <p:cNvSpPr/>
          <p:nvPr/>
        </p:nvSpPr>
        <p:spPr>
          <a:xfrm>
            <a:off x="920049" y="12043028"/>
            <a:ext cx="12802580" cy="4459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Input data with tagged rows for each input.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Verify the nominal path with </a:t>
            </a:r>
            <a:r>
              <a:rPr lang="en-US" sz="4801" i="1" dirty="0">
                <a:solidFill>
                  <a:schemeClr val="tx1"/>
                </a:solidFill>
              </a:rPr>
              <a:t>Check Path.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4801" dirty="0">
                <a:solidFill>
                  <a:schemeClr val="tx1"/>
                </a:solidFill>
              </a:rPr>
              <a:t>Output results with </a:t>
            </a:r>
            <a:r>
              <a:rPr lang="en-US" sz="4801" i="1" dirty="0">
                <a:solidFill>
                  <a:schemeClr val="tx1"/>
                </a:solidFill>
              </a:rPr>
              <a:t>Solve.</a:t>
            </a:r>
            <a:endParaRPr lang="en-US" sz="480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E1EFE-3820-14D6-1B2F-7123CE4D7924}"/>
              </a:ext>
            </a:extLst>
          </p:cNvPr>
          <p:cNvSpPr txBox="1"/>
          <p:nvPr/>
        </p:nvSpPr>
        <p:spPr>
          <a:xfrm>
            <a:off x="1232194" y="10128217"/>
            <a:ext cx="12234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1. The </a:t>
            </a:r>
            <a:r>
              <a:rPr lang="en-US" sz="3200" i="1" dirty="0" err="1"/>
              <a:t>TolStack</a:t>
            </a:r>
            <a:r>
              <a:rPr lang="en-US" sz="3200" i="1" dirty="0"/>
              <a:t> application is 2 buttons that read from and write to the highlighted cells in an active Excel spreadsheet without any setup or install.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EED19-5EE7-096D-FD87-6054C897AE54}"/>
              </a:ext>
            </a:extLst>
          </p:cNvPr>
          <p:cNvSpPr txBox="1"/>
          <p:nvPr/>
        </p:nvSpPr>
        <p:spPr>
          <a:xfrm>
            <a:off x="13085259" y="1390518"/>
            <a:ext cx="13426684" cy="2124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1" b="1" dirty="0"/>
              <a:t>Tyler Seawright</a:t>
            </a:r>
          </a:p>
          <a:p>
            <a:pPr algn="ctr"/>
            <a:r>
              <a:rPr lang="en-US" sz="4401" b="1" dirty="0"/>
              <a:t>M.S. Mechanical Engineering</a:t>
            </a:r>
            <a:endParaRPr lang="en-US" sz="4401" dirty="0"/>
          </a:p>
          <a:p>
            <a:pPr algn="ctr"/>
            <a:endParaRPr lang="en-US" sz="440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14A750-B910-FDAF-8B5C-8149BFE04A59}"/>
              </a:ext>
            </a:extLst>
          </p:cNvPr>
          <p:cNvSpPr/>
          <p:nvPr/>
        </p:nvSpPr>
        <p:spPr>
          <a:xfrm>
            <a:off x="920049" y="1800676"/>
            <a:ext cx="12801600" cy="1470193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64D361-A0C4-3BB2-9FC1-030AA2514EA0}"/>
              </a:ext>
            </a:extLst>
          </p:cNvPr>
          <p:cNvGrpSpPr/>
          <p:nvPr/>
        </p:nvGrpSpPr>
        <p:grpSpPr>
          <a:xfrm>
            <a:off x="13720074" y="2919948"/>
            <a:ext cx="12688102" cy="10378993"/>
            <a:chOff x="795022" y="-9513203"/>
            <a:chExt cx="11248313" cy="67671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9E3AB9-D8F9-30D5-F34A-D3CB647FC1B3}"/>
                </a:ext>
              </a:extLst>
            </p:cNvPr>
            <p:cNvSpPr/>
            <p:nvPr/>
          </p:nvSpPr>
          <p:spPr>
            <a:xfrm>
              <a:off x="795022" y="-9513203"/>
              <a:ext cx="11248313" cy="6767114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FFC694-4F3C-9128-5937-F9F02E732F6C}"/>
                </a:ext>
              </a:extLst>
            </p:cNvPr>
            <p:cNvSpPr txBox="1"/>
            <p:nvPr/>
          </p:nvSpPr>
          <p:spPr>
            <a:xfrm>
              <a:off x="810950" y="-9335066"/>
              <a:ext cx="11175081" cy="1023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ERROR CORRECTOR COUPLING AND PROPAGATION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E13A424-DFA7-6B94-8F97-32B96FD5ED8E}"/>
              </a:ext>
            </a:extLst>
          </p:cNvPr>
          <p:cNvGrpSpPr>
            <a:grpSpLocks noChangeAspect="1"/>
          </p:cNvGrpSpPr>
          <p:nvPr/>
        </p:nvGrpSpPr>
        <p:grpSpPr>
          <a:xfrm>
            <a:off x="1003202" y="3209299"/>
            <a:ext cx="12692376" cy="6434330"/>
            <a:chOff x="1612900" y="1101592"/>
            <a:chExt cx="9182100" cy="4654815"/>
          </a:xfrm>
        </p:grpSpPr>
        <p:pic>
          <p:nvPicPr>
            <p:cNvPr id="17" name="Picture 1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B82647C-4223-77D4-7D30-3A5C8881C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900" y="1101592"/>
              <a:ext cx="9182100" cy="4654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B4FF34-5996-8968-ABD8-4E1F370853F9}"/>
                </a:ext>
              </a:extLst>
            </p:cNvPr>
            <p:cNvSpPr/>
            <p:nvPr/>
          </p:nvSpPr>
          <p:spPr>
            <a:xfrm>
              <a:off x="5889713" y="2506645"/>
              <a:ext cx="19207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Vectors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E17D372-D4CC-8757-D839-D5D22D4FC123}"/>
                </a:ext>
              </a:extLst>
            </p:cNvPr>
            <p:cNvSpPr/>
            <p:nvPr/>
          </p:nvSpPr>
          <p:spPr>
            <a:xfrm>
              <a:off x="5889713" y="2973370"/>
              <a:ext cx="146358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Local Errors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4E72B57-E750-26FE-A1D8-D51489089B43}"/>
                </a:ext>
              </a:extLst>
            </p:cNvPr>
            <p:cNvSpPr/>
            <p:nvPr/>
          </p:nvSpPr>
          <p:spPr>
            <a:xfrm>
              <a:off x="5765889" y="37816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Correctors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98702C5-ABC4-AE54-C65A-A3CCD67F8689}"/>
                </a:ext>
              </a:extLst>
            </p:cNvPr>
            <p:cNvSpPr/>
            <p:nvPr/>
          </p:nvSpPr>
          <p:spPr>
            <a:xfrm>
              <a:off x="4740364" y="4356832"/>
              <a:ext cx="1320712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MC Config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CA5C1B4-8123-2EE7-FB9B-2B049BFF5D13}"/>
                </a:ext>
              </a:extLst>
            </p:cNvPr>
            <p:cNvSpPr/>
            <p:nvPr/>
          </p:nvSpPr>
          <p:spPr>
            <a:xfrm>
              <a:off x="5889713" y="4940088"/>
              <a:ext cx="873037" cy="2330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Result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DFA025-97E1-F820-B291-CDCDA5749924}"/>
                </a:ext>
              </a:extLst>
            </p:cNvPr>
            <p:cNvSpPr/>
            <p:nvPr/>
          </p:nvSpPr>
          <p:spPr>
            <a:xfrm>
              <a:off x="8956763" y="4777584"/>
              <a:ext cx="122228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err="1">
                  <a:solidFill>
                    <a:schemeClr val="tx1"/>
                  </a:solidFill>
                </a:rPr>
                <a:t>TolStack</a:t>
              </a:r>
              <a:r>
                <a:rPr lang="en-US" b="1" i="1" dirty="0">
                  <a:solidFill>
                    <a:schemeClr val="tx1"/>
                  </a:solidFill>
                </a:rPr>
                <a:t> App UI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01D97F4-13AE-A6B9-3607-3B92716C3182}"/>
                </a:ext>
              </a:extLst>
            </p:cNvPr>
            <p:cNvSpPr/>
            <p:nvPr/>
          </p:nvSpPr>
          <p:spPr>
            <a:xfrm>
              <a:off x="9356813" y="1948576"/>
              <a:ext cx="1330237" cy="55806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</a:rPr>
                <a:t>Nominal Transform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6B7D26-8B8F-63EF-7424-121231509B04}"/>
              </a:ext>
            </a:extLst>
          </p:cNvPr>
          <p:cNvGrpSpPr>
            <a:grpSpLocks noChangeAspect="1"/>
          </p:cNvGrpSpPr>
          <p:nvPr/>
        </p:nvGrpSpPr>
        <p:grpSpPr>
          <a:xfrm>
            <a:off x="4630155" y="32934026"/>
            <a:ext cx="5239381" cy="3989408"/>
            <a:chOff x="7553196" y="1628097"/>
            <a:chExt cx="4503123" cy="3440405"/>
          </a:xfrm>
        </p:grpSpPr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E1B8C4E5-EE8E-A5C9-4A5F-D488960CC0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3196" y="1691160"/>
              <a:ext cx="4503123" cy="33773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EFD3D1D-5FB6-1B00-97AD-4ABFDF17B3D1}"/>
                </a:ext>
              </a:extLst>
            </p:cNvPr>
            <p:cNvCxnSpPr>
              <a:cxnSpLocks/>
            </p:cNvCxnSpPr>
            <p:nvPr/>
          </p:nvCxnSpPr>
          <p:spPr>
            <a:xfrm>
              <a:off x="8248256" y="3175011"/>
              <a:ext cx="3113002" cy="7680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0C9947C-C263-AFEC-4C7F-F0EB2915D4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140" y="1789889"/>
              <a:ext cx="0" cy="255752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17C3565-8031-3B25-1796-609C0361A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359" y="3031958"/>
              <a:ext cx="0" cy="501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23B3CB5-B86B-2782-74FA-612DB735881A}"/>
                </a:ext>
              </a:extLst>
            </p:cNvPr>
            <p:cNvCxnSpPr>
              <a:cxnSpLocks/>
            </p:cNvCxnSpPr>
            <p:nvPr/>
          </p:nvCxnSpPr>
          <p:spPr>
            <a:xfrm>
              <a:off x="9347140" y="2868029"/>
              <a:ext cx="695219" cy="163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05FB66-2DE7-D80A-DDBC-4A8156FE082D}"/>
                </a:ext>
              </a:extLst>
            </p:cNvPr>
            <p:cNvSpPr txBox="1"/>
            <p:nvPr/>
          </p:nvSpPr>
          <p:spPr>
            <a:xfrm>
              <a:off x="11015388" y="3943047"/>
              <a:ext cx="552751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Tip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64F9B7-6F20-107A-46F3-40E3610153F1}"/>
                </a:ext>
              </a:extLst>
            </p:cNvPr>
            <p:cNvSpPr txBox="1"/>
            <p:nvPr/>
          </p:nvSpPr>
          <p:spPr>
            <a:xfrm>
              <a:off x="8721096" y="1628097"/>
              <a:ext cx="558262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Tilt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FF5A040-B4B3-F555-3449-84FDE0615FD2}"/>
                </a:ext>
              </a:extLst>
            </p:cNvPr>
            <p:cNvSpPr txBox="1"/>
            <p:nvPr/>
          </p:nvSpPr>
          <p:spPr>
            <a:xfrm>
              <a:off x="7908399" y="3622883"/>
              <a:ext cx="953674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Origin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4344A96-D7CE-9EEF-05FF-FD7FDAAFBC6D}"/>
                </a:ext>
              </a:extLst>
            </p:cNvPr>
            <p:cNvCxnSpPr>
              <a:stCxn id="33" idx="3"/>
            </p:cNvCxnSpPr>
            <p:nvPr/>
          </p:nvCxnSpPr>
          <p:spPr>
            <a:xfrm flipV="1">
              <a:off x="8862072" y="3533775"/>
              <a:ext cx="372025" cy="31471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17C42FD-7A50-4FA1-8262-F9F72B1D5340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>
              <a:off x="10149379" y="2772776"/>
              <a:ext cx="483809" cy="23616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F1748A1-C82F-4694-CE2F-B4B47AD21A81}"/>
                </a:ext>
              </a:extLst>
            </p:cNvPr>
            <p:cNvSpPr txBox="1"/>
            <p:nvPr/>
          </p:nvSpPr>
          <p:spPr>
            <a:xfrm>
              <a:off x="10633187" y="2547167"/>
              <a:ext cx="642304" cy="451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POI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853538-4DB1-F1DD-2EFE-A82403194689}"/>
              </a:ext>
            </a:extLst>
          </p:cNvPr>
          <p:cNvGrpSpPr>
            <a:grpSpLocks noChangeAspect="1"/>
          </p:cNvGrpSpPr>
          <p:nvPr/>
        </p:nvGrpSpPr>
        <p:grpSpPr>
          <a:xfrm>
            <a:off x="14289051" y="4729601"/>
            <a:ext cx="11655489" cy="6854085"/>
            <a:chOff x="1891126" y="-14388467"/>
            <a:chExt cx="10362029" cy="609345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1693B82-D7CB-CA55-B541-704DB005217D}"/>
                </a:ext>
              </a:extLst>
            </p:cNvPr>
            <p:cNvSpPr/>
            <p:nvPr/>
          </p:nvSpPr>
          <p:spPr>
            <a:xfrm>
              <a:off x="2971167" y="-14388467"/>
              <a:ext cx="994610" cy="5735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Start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65B2F793-2161-2412-A154-4AE2BAF6B2B7}"/>
                    </a:ext>
                  </a:extLst>
                </p:cNvPr>
                <p:cNvSpPr/>
                <p:nvPr/>
              </p:nvSpPr>
              <p:spPr>
                <a:xfrm>
                  <a:off x="1930063" y="-13161249"/>
                  <a:ext cx="3809585" cy="57350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𝑹𝒆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B2AF93DD-40E0-8CD2-3254-F617CD0DA7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0063" y="-13161249"/>
                  <a:ext cx="3809585" cy="573505"/>
                </a:xfrm>
                <a:prstGeom prst="rect">
                  <a:avLst/>
                </a:prstGeom>
                <a:blipFill>
                  <a:blip r:embed="rId7"/>
                  <a:stretch>
                    <a:fillRect l="-567" b="-155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7349E261-E93F-2A92-D509-87CA2668B985}"/>
                    </a:ext>
                  </a:extLst>
                </p:cNvPr>
                <p:cNvSpPr/>
                <p:nvPr/>
              </p:nvSpPr>
              <p:spPr>
                <a:xfrm>
                  <a:off x="1891126" y="-12023773"/>
                  <a:ext cx="3154693" cy="194109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Generate Corrector Difference Vector and HTM when </a:t>
                  </a:r>
                  <a14:m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8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𝐑𝐞</m:t>
                          </m:r>
                        </m:sub>
                      </m:sSub>
                    </m:oMath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𝑯𝑻𝑴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B30E4FA9-5A9A-4422-423B-1C223EBFC6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126" y="-12023773"/>
                  <a:ext cx="3154693" cy="1941094"/>
                </a:xfrm>
                <a:prstGeom prst="rect">
                  <a:avLst/>
                </a:prstGeom>
                <a:blipFill>
                  <a:blip r:embed="rId8"/>
                  <a:stretch>
                    <a:fillRect l="-3077" t="-3601" r="-2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C8FC158-CE70-909F-803B-2A28C8C630A6}"/>
                    </a:ext>
                  </a:extLst>
                </p:cNvPr>
                <p:cNvSpPr/>
                <p:nvPr/>
              </p:nvSpPr>
              <p:spPr>
                <a:xfrm>
                  <a:off x="3909630" y="-9856090"/>
                  <a:ext cx="2991852" cy="156108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Generate HTM to Corrector Origin  from POI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𝒗𝒄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𝑯𝑻𝑴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06F14713-9701-4A0E-6CAF-F92F5D9AEF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9630" y="-9856090"/>
                  <a:ext cx="2991852" cy="1561081"/>
                </a:xfrm>
                <a:prstGeom prst="rect">
                  <a:avLst/>
                </a:prstGeom>
                <a:blipFill>
                  <a:blip r:embed="rId9"/>
                  <a:stretch>
                    <a:fillRect t="-44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9B62B00-DD0F-427F-72F0-0C1DFD839EBA}"/>
                    </a:ext>
                  </a:extLst>
                </p:cNvPr>
                <p:cNvSpPr/>
                <p:nvPr/>
              </p:nvSpPr>
              <p:spPr>
                <a:xfrm>
                  <a:off x="6400544" y="-13717130"/>
                  <a:ext cx="5374920" cy="13122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Absolute Error with Corrector at POI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𝑽𝑪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lit/>
                          </m:rP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𝑪𝑫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𝑽𝑪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)) 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1F565D0-51A3-7B07-AE0F-D472C3187A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0544" y="-13717130"/>
                  <a:ext cx="5374920" cy="1312203"/>
                </a:xfrm>
                <a:prstGeom prst="rect">
                  <a:avLst/>
                </a:prstGeom>
                <a:blipFill>
                  <a:blip r:embed="rId10"/>
                  <a:stretch>
                    <a:fillRect l="-402" t="-1633" r="-19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D3D67B52-26D4-A6C4-C530-C530861E835B}"/>
                </a:ext>
              </a:extLst>
            </p:cNvPr>
            <p:cNvCxnSpPr>
              <a:cxnSpLocks/>
              <a:stCxn id="41" idx="2"/>
              <a:endCxn id="42" idx="1"/>
            </p:cNvCxnSpPr>
            <p:nvPr/>
          </p:nvCxnSpPr>
          <p:spPr>
            <a:xfrm rot="16200000" flipH="1">
              <a:off x="3185486" y="-9799693"/>
              <a:ext cx="1007130" cy="441157"/>
            </a:xfrm>
            <a:prstGeom prst="bentConnector2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424879AC-B8BB-4AC2-5251-47CC488FD5E4}"/>
                </a:ext>
              </a:extLst>
            </p:cNvPr>
            <p:cNvCxnSpPr>
              <a:cxnSpLocks/>
              <a:stCxn id="42" idx="0"/>
              <a:endCxn id="43" idx="2"/>
            </p:cNvCxnSpPr>
            <p:nvPr/>
          </p:nvCxnSpPr>
          <p:spPr>
            <a:xfrm rot="5400000" flipH="1" flipV="1">
              <a:off x="5972362" y="-12971732"/>
              <a:ext cx="2548837" cy="3682448"/>
            </a:xfrm>
            <a:prstGeom prst="bentConnector3">
              <a:avLst>
                <a:gd name="adj1" fmla="val 73920"/>
              </a:avLst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6B9193E2-B086-D6A7-6D58-803D1EAFED27}"/>
                    </a:ext>
                  </a:extLst>
                </p:cNvPr>
                <p:cNvSpPr/>
                <p:nvPr/>
              </p:nvSpPr>
              <p:spPr>
                <a:xfrm>
                  <a:off x="7274837" y="-11403074"/>
                  <a:ext cx="4158919" cy="203246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Solve Relative Error with Corrector at POI and Convert to Vector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𝒄𝒓𝒆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𝑯𝑻</m:t>
                        </m:r>
                        <m:sSup>
                          <m:s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𝒄𝒓𝒆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B606519-998B-2D07-F9A5-5B63374A84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4837" y="-11403074"/>
                  <a:ext cx="4158919" cy="2032461"/>
                </a:xfrm>
                <a:prstGeom prst="rect">
                  <a:avLst/>
                </a:prstGeom>
                <a:blipFill>
                  <a:blip r:embed="rId11"/>
                  <a:stretch>
                    <a:fillRect t="-1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2D0F81A-2E8A-81A7-3D71-48EFD7A7D49B}"/>
                    </a:ext>
                  </a:extLst>
                </p:cNvPr>
                <p:cNvSpPr/>
                <p:nvPr/>
              </p:nvSpPr>
              <p:spPr>
                <a:xfrm>
                  <a:off x="10135597" y="-9026767"/>
                  <a:ext cx="2117558" cy="5735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bg1"/>
                      </a:solidFill>
                    </a:rPr>
                    <a:t>Solution: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</m:oMath>
                  </a14:m>
                  <a:endParaRPr lang="en-US" sz="28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94F9518B-7D74-A893-9BBE-E759E8D734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5597" y="-9026767"/>
                  <a:ext cx="2117558" cy="573505"/>
                </a:xfrm>
                <a:prstGeom prst="rect">
                  <a:avLst/>
                </a:prstGeom>
                <a:blipFill>
                  <a:blip r:embed="rId12"/>
                  <a:stretch>
                    <a:fillRect l="-3553" b="-146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725B8C60-B96C-9A40-50B8-FE0C918104CB}"/>
                </a:ext>
              </a:extLst>
            </p:cNvPr>
            <p:cNvCxnSpPr>
              <a:cxnSpLocks/>
              <a:stCxn id="46" idx="2"/>
              <a:endCxn id="47" idx="1"/>
            </p:cNvCxnSpPr>
            <p:nvPr/>
          </p:nvCxnSpPr>
          <p:spPr>
            <a:xfrm rot="16200000" flipH="1">
              <a:off x="9429648" y="-9445964"/>
              <a:ext cx="630599" cy="781300"/>
            </a:xfrm>
            <a:prstGeom prst="bentConnector2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49B8687-5E4F-B3E1-133A-717B631850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4946" y="-12373323"/>
              <a:ext cx="1" cy="968377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8401380-DB89-D3C5-574D-4A43F20D9652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>
              <a:off x="3468472" y="-13814962"/>
              <a:ext cx="0" cy="639004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8E3C3AC-55C5-519B-696D-E1E6013D1DB3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3468473" y="-12557826"/>
              <a:ext cx="0" cy="534053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FD871C6-E050-1584-0482-73ACA1A96B72}"/>
              </a:ext>
            </a:extLst>
          </p:cNvPr>
          <p:cNvSpPr txBox="1"/>
          <p:nvPr/>
        </p:nvSpPr>
        <p:spPr>
          <a:xfrm>
            <a:off x="13999600" y="11729281"/>
            <a:ext cx="12234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2. Corrector parasitic error is propagated to the system using the corrector difference transform solved by the process in the flowchart.</a:t>
            </a:r>
            <a:endParaRPr lang="en-US" sz="3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3B794D-2871-9EC1-95DD-CF3EDC802F15}"/>
              </a:ext>
            </a:extLst>
          </p:cNvPr>
          <p:cNvSpPr txBox="1"/>
          <p:nvPr/>
        </p:nvSpPr>
        <p:spPr>
          <a:xfrm>
            <a:off x="19596768" y="18929357"/>
            <a:ext cx="769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1m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2323BA-94AC-AC52-5F3F-56CC9C96A49B}"/>
              </a:ext>
            </a:extLst>
          </p:cNvPr>
          <p:cNvGrpSpPr/>
          <p:nvPr/>
        </p:nvGrpSpPr>
        <p:grpSpPr>
          <a:xfrm>
            <a:off x="926580" y="16493593"/>
            <a:ext cx="13009798" cy="15461954"/>
            <a:chOff x="13338337" y="-17575823"/>
            <a:chExt cx="13009798" cy="15023804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A770AC0-C0E0-8E2C-D781-1C887E7A593D}"/>
                </a:ext>
              </a:extLst>
            </p:cNvPr>
            <p:cNvSpPr txBox="1"/>
            <p:nvPr/>
          </p:nvSpPr>
          <p:spPr>
            <a:xfrm>
              <a:off x="13557841" y="-17181209"/>
              <a:ext cx="12790294" cy="1525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ERROR PROPAGATION BY HOMOGENEOUS TRANSFORMS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DE59AA0-390C-D148-563D-E1F7F271FB89}"/>
                </a:ext>
              </a:extLst>
            </p:cNvPr>
            <p:cNvSpPr/>
            <p:nvPr/>
          </p:nvSpPr>
          <p:spPr>
            <a:xfrm>
              <a:off x="13367840" y="-6601870"/>
              <a:ext cx="12763990" cy="40498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79" indent="-685879">
                <a:buFont typeface="Arial" panose="020B0604020202020204" pitchFamily="34" charset="0"/>
                <a:buChar char="•"/>
              </a:pPr>
              <a:r>
                <a:rPr lang="en-US" sz="4801" dirty="0">
                  <a:solidFill>
                    <a:schemeClr val="tx1"/>
                  </a:solidFill>
                </a:rPr>
                <a:t>Compute absolute and relative error between the global reference and point of interest.</a:t>
              </a:r>
            </a:p>
          </p:txBody>
        </p:sp>
        <p:pic>
          <p:nvPicPr>
            <p:cNvPr id="57" name="Picture 56" descr="A diagram of a function&#10;&#10;AI-generated content may be incorrect.">
              <a:extLst>
                <a:ext uri="{FF2B5EF4-FFF2-40B4-BE49-F238E27FC236}">
                  <a16:creationId xmlns:a16="http://schemas.microsoft.com/office/drawing/2014/main" id="{FA512A26-6D46-91C4-07A5-27230A5B9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691962" y="-15518917"/>
              <a:ext cx="7083700" cy="53127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2E9F3A97-FA9D-9653-975F-9A6BBEF796D1}"/>
                    </a:ext>
                  </a:extLst>
                </p:cNvPr>
                <p:cNvSpPr/>
                <p:nvPr/>
              </p:nvSpPr>
              <p:spPr>
                <a:xfrm>
                  <a:off x="13614996" y="-9738257"/>
                  <a:ext cx="12292300" cy="25890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∗…∗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				(eq. 1)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∗…∗</m:t>
                      </m:r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(eq. 2)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480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480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480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4801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							</a:t>
                  </a:r>
                  <a:r>
                    <a:rPr lang="en-US" sz="480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(eq. 3)</a:t>
                  </a:r>
                </a:p>
                <a:p>
                  <a:endParaRPr lang="en-US" sz="6001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480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1BB21DC-8047-FD3D-ACDB-4E46CBA8E2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14996" y="-9738257"/>
                  <a:ext cx="12292300" cy="2589054"/>
                </a:xfrm>
                <a:prstGeom prst="rect">
                  <a:avLst/>
                </a:prstGeom>
                <a:blipFill>
                  <a:blip r:embed="rId14"/>
                  <a:stretch>
                    <a:fillRect t="-4907" b="-4907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F71EB1F5-ED90-B06F-166D-9E6FC3650E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43950" y="-13952615"/>
              <a:ext cx="4864116" cy="212174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FCC8F60-EFA1-16C7-0DB3-82ACB90AA4AF}"/>
                </a:ext>
              </a:extLst>
            </p:cNvPr>
            <p:cNvSpPr/>
            <p:nvPr/>
          </p:nvSpPr>
          <p:spPr>
            <a:xfrm>
              <a:off x="13338337" y="-17575823"/>
              <a:ext cx="12801600" cy="15023803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0B7C945-5B79-4A73-2310-D862CAB93C49}"/>
              </a:ext>
            </a:extLst>
          </p:cNvPr>
          <p:cNvSpPr txBox="1"/>
          <p:nvPr/>
        </p:nvSpPr>
        <p:spPr>
          <a:xfrm>
            <a:off x="13604729" y="13511767"/>
            <a:ext cx="1044831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MODEL VALIDATION 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CA930DB-871F-8D54-F352-31CC7FABCDE7}"/>
              </a:ext>
            </a:extLst>
          </p:cNvPr>
          <p:cNvSpPr/>
          <p:nvPr/>
        </p:nvSpPr>
        <p:spPr>
          <a:xfrm>
            <a:off x="13721650" y="33316903"/>
            <a:ext cx="12646876" cy="61396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79" indent="-685879">
              <a:buFont typeface="Arial" panose="020B0604020202020204" pitchFamily="34" charset="0"/>
              <a:buChar char="•"/>
            </a:pPr>
            <a:r>
              <a:rPr lang="en-US" sz="4801" dirty="0">
                <a:solidFill>
                  <a:schemeClr val="tx1"/>
                </a:solidFill>
              </a:rPr>
              <a:t>A corrector at the origin corrects to the resolution of the adjuster with crosstalk.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3BEE0C3-C0E0-303B-8AED-BE0F7681B444}"/>
              </a:ext>
            </a:extLst>
          </p:cNvPr>
          <p:cNvGrpSpPr>
            <a:grpSpLocks noChangeAspect="1"/>
          </p:cNvGrpSpPr>
          <p:nvPr/>
        </p:nvGrpSpPr>
        <p:grpSpPr>
          <a:xfrm>
            <a:off x="15464241" y="17248125"/>
            <a:ext cx="9034817" cy="4557277"/>
            <a:chOff x="6096000" y="4416925"/>
            <a:chExt cx="6086076" cy="1860927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9C7B4B58-5F20-8F31-4805-5D9D125B6B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5076899"/>
              <a:ext cx="0" cy="4959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A9BCD8A-3659-FA15-A732-EB5E18C17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A3F75DA-EE92-35EC-2EA1-7DAB282A9D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2932" y="5566996"/>
              <a:ext cx="246021" cy="1995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F11F5D5-8A5B-8B49-1D0A-29B6AA0200A4}"/>
                </a:ext>
              </a:extLst>
            </p:cNvPr>
            <p:cNvSpPr txBox="1"/>
            <p:nvPr/>
          </p:nvSpPr>
          <p:spPr>
            <a:xfrm>
              <a:off x="6462741" y="5517618"/>
              <a:ext cx="285289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z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07CDF61-8CBC-A7E1-A07A-E82A17B5760B}"/>
                </a:ext>
              </a:extLst>
            </p:cNvPr>
            <p:cNvSpPr txBox="1"/>
            <p:nvPr/>
          </p:nvSpPr>
          <p:spPr>
            <a:xfrm>
              <a:off x="6715857" y="4880914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y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FB2E71-08E2-1376-B475-2742790783B9}"/>
                </a:ext>
              </a:extLst>
            </p:cNvPr>
            <p:cNvSpPr txBox="1"/>
            <p:nvPr/>
          </p:nvSpPr>
          <p:spPr>
            <a:xfrm>
              <a:off x="7623846" y="5458460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x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014646F-4E79-F9A5-9519-C7437E7635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25749" y="4772567"/>
              <a:ext cx="88419" cy="4773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D2F954FC-9202-1A24-806F-EE3E8A2D6FE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630CF3D-A969-2D62-CD7E-C50F702473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6094" y="5256278"/>
              <a:ext cx="273874" cy="2529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F6C9051-3AA4-E8B6-9600-F2304F3AB5EB}"/>
                </a:ext>
              </a:extLst>
            </p:cNvPr>
            <p:cNvSpPr txBox="1"/>
            <p:nvPr/>
          </p:nvSpPr>
          <p:spPr>
            <a:xfrm>
              <a:off x="9461052" y="4593485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y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58A7CBF-2E50-86AA-F2ED-FE6681139575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445A246-4AD3-91F2-0DDF-57D231FEF3DF}"/>
                </a:ext>
              </a:extLst>
            </p:cNvPr>
            <p:cNvSpPr txBox="1"/>
            <p:nvPr/>
          </p:nvSpPr>
          <p:spPr>
            <a:xfrm>
              <a:off x="9283994" y="5278751"/>
              <a:ext cx="285289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z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1EADC88-035D-FDB1-0DBE-0D7B4EF13A81}"/>
                </a:ext>
              </a:extLst>
            </p:cNvPr>
            <p:cNvSpPr txBox="1"/>
            <p:nvPr/>
          </p:nvSpPr>
          <p:spPr>
            <a:xfrm>
              <a:off x="10554529" y="4912724"/>
              <a:ext cx="295007" cy="289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1" b="1" dirty="0"/>
                <a:t>x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480705F-2835-1176-B465-C3EE60B555C4}"/>
                </a:ext>
              </a:extLst>
            </p:cNvPr>
            <p:cNvGrpSpPr/>
            <p:nvPr/>
          </p:nvGrpSpPr>
          <p:grpSpPr>
            <a:xfrm rot="525620">
              <a:off x="9649637" y="5030472"/>
              <a:ext cx="819354" cy="759586"/>
              <a:chOff x="4531460" y="5076408"/>
              <a:chExt cx="587357" cy="510202"/>
            </a:xfrm>
          </p:grpSpPr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CADF5960-821B-610A-6145-58E560FA7314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V="1">
                <a:off x="4647374" y="5076408"/>
                <a:ext cx="0" cy="331157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2E8EEA9-C4AB-A97D-F26F-D5D065612A38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>
                <a:off x="4681353" y="5370669"/>
                <a:ext cx="437464" cy="0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33288B47-69AE-BBDF-BAD7-10D9A5ADABA5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531460" y="539616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310CC60-F83F-9C0C-18C2-B0509F665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0C5C482-FB28-972F-29C2-CF5F27A7308F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1E2AA0C2-9AD9-AAF5-D708-339070E35ECF}"/>
                    </a:ext>
                  </a:extLst>
                </p:cNvPr>
                <p:cNvSpPr/>
                <p:nvPr/>
              </p:nvSpPr>
              <p:spPr>
                <a:xfrm>
                  <a:off x="9895249" y="4727826"/>
                  <a:ext cx="686004" cy="2548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</m:oMath>
                    </m:oMathPara>
                  </a14:m>
                  <a:endParaRPr lang="en-US" sz="36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1E2AA0C2-9AD9-AAF5-D708-339070E35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249" y="4727826"/>
                  <a:ext cx="686004" cy="25484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BF3225B-D80D-3DA7-F36A-6DD6F9AF5DDD}"/>
                    </a:ext>
                  </a:extLst>
                </p:cNvPr>
                <p:cNvSpPr/>
                <p:nvPr/>
              </p:nvSpPr>
              <p:spPr>
                <a:xfrm>
                  <a:off x="9082254" y="4416925"/>
                  <a:ext cx="578592" cy="2387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𝒂𝒆</m:t>
                            </m:r>
                          </m:sub>
                        </m:sSub>
                      </m:oMath>
                    </m:oMathPara>
                  </a14:m>
                  <a:endParaRPr lang="en-US" sz="36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BF3225B-D80D-3DA7-F36A-6DD6F9AF5D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2254" y="4416925"/>
                  <a:ext cx="578592" cy="23878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D0E0A18-379C-E0AA-8B38-F309C3319196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0D14A35-A8B4-4A14-843F-7F0F11E41DFD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9BF8798-EC64-655A-129C-7469FEFC2EBB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EF2FA729-9CEB-857A-D0FE-5DF1A1F11585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6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8E065952-249B-501D-AE92-024F6CB8BC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18"/>
                  <a:stretch>
                    <a:fillRect t="-4839" r="-4153" b="-2338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3EB8F230-7D3A-2FD5-1E7A-755E6F347854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28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A606764-8D1A-DCF4-756A-38F5146E80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33FE1EA-7743-02CD-7FEB-2B0733DD152B}"/>
                </a:ext>
              </a:extLst>
            </p:cNvPr>
            <p:cNvSpPr txBox="1"/>
            <p:nvPr/>
          </p:nvSpPr>
          <p:spPr>
            <a:xfrm>
              <a:off x="8847172" y="5582676"/>
              <a:ext cx="518531" cy="238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0070C0"/>
                  </a:solidFill>
                </a:rPr>
                <a:t>1m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483A6FBB-497F-E92F-99F7-A7623DBB6184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6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6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1027" name="Rectangle 1026">
                  <a:extLst>
                    <a:ext uri="{FF2B5EF4-FFF2-40B4-BE49-F238E27FC236}">
                      <a16:creationId xmlns:a16="http://schemas.microsoft.com/office/drawing/2014/main" id="{45179B4C-611C-0235-DE4F-948996D74A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blipFill>
                  <a:blip r:embed="rId20"/>
                  <a:stretch>
                    <a:fillRect t="-4032" r="-4090" b="-2338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FA12B53-B5C2-2316-CCA9-9FE7B775EF71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3" name="Content Placeholder 7">
                <a:extLst>
                  <a:ext uri="{FF2B5EF4-FFF2-40B4-BE49-F238E27FC236}">
                    <a16:creationId xmlns:a16="http://schemas.microsoft.com/office/drawing/2014/main" id="{2B882F7D-81EB-2D68-4F1E-36AA077BD53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51281931"/>
                  </p:ext>
                </p:extLst>
              </p:nvPr>
            </p:nvGraphicFramePr>
            <p:xfrm>
              <a:off x="13927756" y="14774651"/>
              <a:ext cx="12206464" cy="21336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1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2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5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4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1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45487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Vector Name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X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Y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Z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227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Rae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0.9999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227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Re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-0.0001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0.0170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227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Rce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0.0025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0.0025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3" name="Content Placeholder 7">
                <a:extLst>
                  <a:ext uri="{FF2B5EF4-FFF2-40B4-BE49-F238E27FC236}">
                    <a16:creationId xmlns:a16="http://schemas.microsoft.com/office/drawing/2014/main" id="{2B882F7D-81EB-2D68-4F1E-36AA077BD53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51281931"/>
                  </p:ext>
                </p:extLst>
              </p:nvPr>
            </p:nvGraphicFramePr>
            <p:xfrm>
              <a:off x="13927756" y="14774651"/>
              <a:ext cx="12206464" cy="21336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1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2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5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4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1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534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Vector Name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X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Y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Z (m)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1"/>
                          <a:stretch>
                            <a:fillRect l="-685561" t="-12143" r="-288770" b="-17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1"/>
                          <a:stretch>
                            <a:fillRect l="-781383" t="-12143" r="-187234" b="-17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1"/>
                          <a:stretch>
                            <a:fillRect l="-476149" t="-12143" r="-1149" b="-17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Rae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0.9999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Re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-0.0001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0.0170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0.0170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Rce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0.0025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>
                              <a:effectLst/>
                            </a:rPr>
                            <a:t>0</a:t>
                          </a:r>
                          <a:endParaRPr lang="en-US" sz="28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800" dirty="0">
                              <a:effectLst/>
                            </a:rPr>
                            <a:t>0.0025</a:t>
                          </a:r>
                          <a:endParaRPr lang="en-US" sz="28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D25B62-9F6B-ACAF-1701-06BD05E87DE3}"/>
                  </a:ext>
                </a:extLst>
              </p:cNvPr>
              <p:cNvSpPr txBox="1"/>
              <p:nvPr/>
            </p:nvSpPr>
            <p:spPr>
              <a:xfrm>
                <a:off x="15066408" y="21803631"/>
                <a:ext cx="10008444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i="1" dirty="0"/>
                  <a:t>FIGURE 3. A 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3200" dirty="0"/>
                  <a:t> error is corrected to 2.5mrad with the corrector located at the origin.</a:t>
                </a:r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D25B62-9F6B-ACAF-1701-06BD05E87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408" y="21803631"/>
                <a:ext cx="10008444" cy="1077218"/>
              </a:xfrm>
              <a:prstGeom prst="rect">
                <a:avLst/>
              </a:prstGeom>
              <a:blipFill>
                <a:blip r:embed="rId22"/>
                <a:stretch>
                  <a:fillRect l="-1584" t="-681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606AB715-B0A5-9E3E-11F5-D97B91259D57}"/>
              </a:ext>
            </a:extLst>
          </p:cNvPr>
          <p:cNvSpPr txBox="1"/>
          <p:nvPr/>
        </p:nvSpPr>
        <p:spPr>
          <a:xfrm>
            <a:off x="13609903" y="23286494"/>
            <a:ext cx="12772098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MODEL VALIDATION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6" name="Content Placeholder 7">
                <a:extLst>
                  <a:ext uri="{FF2B5EF4-FFF2-40B4-BE49-F238E27FC236}">
                    <a16:creationId xmlns:a16="http://schemas.microsoft.com/office/drawing/2014/main" id="{EFC3F74B-2A7C-948C-CE42-4B9A0A48E8E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95079591"/>
                  </p:ext>
                </p:extLst>
              </p:nvPr>
            </p:nvGraphicFramePr>
            <p:xfrm>
              <a:off x="13878419" y="24554004"/>
              <a:ext cx="12206460" cy="22098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0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0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1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6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3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0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839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Vector Name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X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Y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Z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9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9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Rae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0.9999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Re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-0.0001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Rce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-0.0004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0.0310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0.0025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6" name="Content Placeholder 7">
                <a:extLst>
                  <a:ext uri="{FF2B5EF4-FFF2-40B4-BE49-F238E27FC236}">
                    <a16:creationId xmlns:a16="http://schemas.microsoft.com/office/drawing/2014/main" id="{EFC3F74B-2A7C-948C-CE42-4B9A0A48E8E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95079591"/>
                  </p:ext>
                </p:extLst>
              </p:nvPr>
            </p:nvGraphicFramePr>
            <p:xfrm>
              <a:off x="13878419" y="24554004"/>
              <a:ext cx="12206460" cy="2209800"/>
            </p:xfrm>
            <a:graphic>
              <a:graphicData uri="http://schemas.openxmlformats.org/drawingml/2006/table">
                <a:tbl>
                  <a:tblPr firstRow="1" firstCol="1" bandRow="1">
                    <a:tableStyleId>{00A15C55-8517-42AA-B614-E9B94910E393}</a:tableStyleId>
                  </a:tblPr>
                  <a:tblGrid>
                    <a:gridCol w="2149200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2070320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1678431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1136836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1145133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2121540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88392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Vector Name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X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Y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Z (m)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685561" t="-11644" r="-288770" b="-173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781383" t="-11644" r="-187234" b="-173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3"/>
                          <a:stretch>
                            <a:fillRect l="-476149" t="-11644" r="-1149" b="-1739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Rae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0.9999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0.0170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Re</a:t>
                          </a:r>
                          <a:endParaRPr lang="en-US" sz="29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-0.0001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0.0170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Rce</a:t>
                          </a:r>
                          <a:endParaRPr lang="en-US" sz="29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-0.0004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0.0310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>
                              <a:effectLst/>
                            </a:rPr>
                            <a:t>0</a:t>
                          </a:r>
                          <a:endParaRPr lang="en-US" sz="31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900" dirty="0">
                              <a:effectLst/>
                            </a:rPr>
                            <a:t>0.0025</a:t>
                          </a:r>
                          <a:endParaRPr lang="en-US" sz="31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5C5B50F2-ED03-7F01-172A-3BC9D4780865}"/>
              </a:ext>
            </a:extLst>
          </p:cNvPr>
          <p:cNvSpPr/>
          <p:nvPr/>
        </p:nvSpPr>
        <p:spPr>
          <a:xfrm>
            <a:off x="13726825" y="22880849"/>
            <a:ext cx="12688103" cy="1657570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F77F103-24E7-A77F-7771-00DF331D9EEA}"/>
              </a:ext>
            </a:extLst>
          </p:cNvPr>
          <p:cNvGrpSpPr>
            <a:grpSpLocks noChangeAspect="1"/>
          </p:cNvGrpSpPr>
          <p:nvPr/>
        </p:nvGrpSpPr>
        <p:grpSpPr>
          <a:xfrm>
            <a:off x="14312612" y="26951319"/>
            <a:ext cx="11599250" cy="4430883"/>
            <a:chOff x="1094291" y="4049983"/>
            <a:chExt cx="7171964" cy="2596288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1B0326ED-CC3B-78EF-1BB3-262CB79BD8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6739" y="4914648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E68F18D4-B93C-1957-0373-7A20C7FD6B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1654" y="5926649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49814DE-D0C1-0DDC-7A21-47839F49D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326" y="5926649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8B6BA20-D4B0-3CE6-BC57-6EED47C6DDC8}"/>
                </a:ext>
              </a:extLst>
            </p:cNvPr>
            <p:cNvSpPr txBox="1"/>
            <p:nvPr/>
          </p:nvSpPr>
          <p:spPr>
            <a:xfrm>
              <a:off x="1280520" y="5818113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A08A9D4-B08B-9D1F-E10D-7CB9B0B52F9A}"/>
                </a:ext>
              </a:extLst>
            </p:cNvPr>
            <p:cNvSpPr txBox="1"/>
            <p:nvPr/>
          </p:nvSpPr>
          <p:spPr>
            <a:xfrm>
              <a:off x="1602076" y="4656623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D5BF8E-F568-584F-6A67-D8AA0B848845}"/>
                </a:ext>
              </a:extLst>
            </p:cNvPr>
            <p:cNvSpPr txBox="1"/>
            <p:nvPr/>
          </p:nvSpPr>
          <p:spPr>
            <a:xfrm>
              <a:off x="2604171" y="5818113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6FE246F-A674-5D8F-A71C-96C2F347A181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31390" y="4626894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2D1FF3D-FBF2-C1F5-6DB4-201A4C5C943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779432" y="5576865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365D7DD2-EF50-FD23-744C-E4979EBEE8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2307" y="5631489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1EAB09B-B6F3-D3D2-9372-1BC71F0FEEA0}"/>
                </a:ext>
              </a:extLst>
            </p:cNvPr>
            <p:cNvSpPr txBox="1"/>
            <p:nvPr/>
          </p:nvSpPr>
          <p:spPr>
            <a:xfrm>
              <a:off x="4390252" y="4590942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4ABC910-41C3-908D-E045-34C6A941D0AF}"/>
                </a:ext>
              </a:extLst>
            </p:cNvPr>
            <p:cNvCxnSpPr/>
            <p:nvPr/>
          </p:nvCxnSpPr>
          <p:spPr>
            <a:xfrm flipV="1">
              <a:off x="1974943" y="5631489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842AF8A-7C19-5228-9022-F428EC73598F}"/>
                </a:ext>
              </a:extLst>
            </p:cNvPr>
            <p:cNvSpPr txBox="1"/>
            <p:nvPr/>
          </p:nvSpPr>
          <p:spPr>
            <a:xfrm>
              <a:off x="4366854" y="5924919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679224A-0885-53EF-6796-49582A310670}"/>
                </a:ext>
              </a:extLst>
            </p:cNvPr>
            <p:cNvSpPr txBox="1"/>
            <p:nvPr/>
          </p:nvSpPr>
          <p:spPr>
            <a:xfrm>
              <a:off x="5542253" y="5479646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5EB54DB6-4D24-006A-C851-CD6E20F70EB3}"/>
                </a:ext>
              </a:extLst>
            </p:cNvPr>
            <p:cNvGrpSpPr/>
            <p:nvPr/>
          </p:nvGrpSpPr>
          <p:grpSpPr>
            <a:xfrm rot="525620">
              <a:off x="4647247" y="4341121"/>
              <a:ext cx="1235329" cy="1332772"/>
              <a:chOff x="4470163" y="4586313"/>
              <a:chExt cx="885549" cy="895203"/>
            </a:xfrm>
          </p:grpSpPr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0D722D92-99D3-CC61-0700-9233BE107D7C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07601" y="4586313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FD7CCD35-BBDD-7DA6-09C9-FF14E6471DD3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42040" y="5224394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7117DD38-403B-B489-7A99-ECA8F7C9CC36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0163" y="5291070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565A1DA-160C-4B35-4808-6EA746F5C3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2287" y="5341182"/>
              <a:ext cx="7581" cy="5854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314032C-FE92-060C-E590-66BF4A8E4A44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39" y="5926648"/>
              <a:ext cx="3014020" cy="11281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0D44E05-36C1-800A-FD62-4AF9A0570638}"/>
                </a:ext>
              </a:extLst>
            </p:cNvPr>
            <p:cNvSpPr/>
            <p:nvPr/>
          </p:nvSpPr>
          <p:spPr>
            <a:xfrm>
              <a:off x="4976037" y="4287032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2288270-BB7C-0032-261A-59888DA2DFF5}"/>
                </a:ext>
              </a:extLst>
            </p:cNvPr>
            <p:cNvSpPr/>
            <p:nvPr/>
          </p:nvSpPr>
          <p:spPr>
            <a:xfrm>
              <a:off x="3785574" y="4282943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6339715-5335-3B48-DBC4-41EF16F8ECDB}"/>
                </a:ext>
              </a:extLst>
            </p:cNvPr>
            <p:cNvSpPr/>
            <p:nvPr/>
          </p:nvSpPr>
          <p:spPr>
            <a:xfrm>
              <a:off x="4960759" y="5476265"/>
              <a:ext cx="491628" cy="763552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E3D7D31-ACF9-6A95-0769-B5AB080DCDE5}"/>
                </a:ext>
              </a:extLst>
            </p:cNvPr>
            <p:cNvSpPr/>
            <p:nvPr/>
          </p:nvSpPr>
          <p:spPr>
            <a:xfrm>
              <a:off x="4960759" y="6239816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D6355E-F268-4C14-B25B-2B10CF858861}"/>
                </a:ext>
              </a:extLst>
            </p:cNvPr>
            <p:cNvSpPr/>
            <p:nvPr/>
          </p:nvSpPr>
          <p:spPr>
            <a:xfrm rot="6301538">
              <a:off x="3082399" y="5461794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1A982C06-4BA9-F6A2-52EB-6F9DA4679827}"/>
                    </a:ext>
                  </a:extLst>
                </p:cNvPr>
                <p:cNvSpPr/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2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75B38B00-56C3-95BA-78F9-D8AA9035C0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4461" y="5107658"/>
                  <a:ext cx="1044094" cy="406455"/>
                </a:xfrm>
                <a:prstGeom prst="rect">
                  <a:avLst/>
                </a:prstGeom>
                <a:blipFill>
                  <a:blip r:embed="rId25"/>
                  <a:stretch>
                    <a:fillRect t="-4505" r="-3534" b="-2252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DFA4DCB-CF69-5CCB-EBB3-5E0B8DD268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6348" y="5268532"/>
              <a:ext cx="2425635" cy="33177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F960957-D64D-F424-E9A6-2790A1950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3962" y="5276710"/>
              <a:ext cx="2446730" cy="366098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86F2ABD3-ADC8-D97E-94D3-FA88B569BBA4}"/>
                </a:ext>
              </a:extLst>
            </p:cNvPr>
            <p:cNvGrpSpPr/>
            <p:nvPr/>
          </p:nvGrpSpPr>
          <p:grpSpPr>
            <a:xfrm rot="21156203">
              <a:off x="6814720" y="4197957"/>
              <a:ext cx="1396891" cy="1453324"/>
              <a:chOff x="6854279" y="4258831"/>
              <a:chExt cx="1396891" cy="1453324"/>
            </a:xfrm>
          </p:grpSpPr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C3EF16F7-532D-1465-FDC4-B56BEDCC48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0692" y="4258831"/>
                <a:ext cx="0" cy="10178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74179803-35A6-500F-55B5-6640AF9EED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5607" y="5270832"/>
                <a:ext cx="995563" cy="58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5DE96C22-0B40-C876-BCD4-CE4E5A61BD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4279" y="5270832"/>
                <a:ext cx="444617" cy="4413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E4102A5-E567-2BBE-31A5-5CC1F8E200DA}"/>
                </a:ext>
              </a:extLst>
            </p:cNvPr>
            <p:cNvSpPr txBox="1"/>
            <p:nvPr/>
          </p:nvSpPr>
          <p:spPr>
            <a:xfrm>
              <a:off x="6990364" y="5484502"/>
              <a:ext cx="246996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z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D513857-E3E0-F17E-A12F-1951F4D926C9}"/>
                </a:ext>
              </a:extLst>
            </p:cNvPr>
            <p:cNvSpPr txBox="1"/>
            <p:nvPr/>
          </p:nvSpPr>
          <p:spPr>
            <a:xfrm>
              <a:off x="6826916" y="4049983"/>
              <a:ext cx="254925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y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51AC6F1-ADEB-E9B6-9706-2A7F06503089}"/>
                </a:ext>
              </a:extLst>
            </p:cNvPr>
            <p:cNvSpPr txBox="1"/>
            <p:nvPr/>
          </p:nvSpPr>
          <p:spPr>
            <a:xfrm>
              <a:off x="7928124" y="5162296"/>
              <a:ext cx="255917" cy="37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31AB8BF6-33DC-DBCB-ED4C-829195C55BD4}"/>
                    </a:ext>
                  </a:extLst>
                </p:cNvPr>
                <p:cNvSpPr/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24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5" name="Rectangle 1114">
                  <a:extLst>
                    <a:ext uri="{FF2B5EF4-FFF2-40B4-BE49-F238E27FC236}">
                      <a16:creationId xmlns:a16="http://schemas.microsoft.com/office/drawing/2014/main" id="{9297BEA9-A8F0-DA14-2C3C-9824DCCC0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291" y="5611577"/>
                  <a:ext cx="782613" cy="251818"/>
                </a:xfrm>
                <a:prstGeom prst="rect">
                  <a:avLst/>
                </a:prstGeom>
                <a:blipFill>
                  <a:blip r:embed="rId26"/>
                  <a:stretch>
                    <a:fillRect l="-3349" b="-235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ACA1B48B-4E47-2489-34A7-A0B70F347767}"/>
                    </a:ext>
                  </a:extLst>
                </p:cNvPr>
                <p:cNvSpPr/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32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A40D6ECA-B8EC-9444-948A-EE2B09EFDE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4671" y="5872736"/>
                  <a:ext cx="1632366" cy="406455"/>
                </a:xfrm>
                <a:prstGeom prst="rect">
                  <a:avLst/>
                </a:prstGeom>
                <a:blipFill>
                  <a:blip r:embed="rId27"/>
                  <a:stretch>
                    <a:fillRect t="-3571" r="-3864" b="-22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90E2E7A-1D2B-F1FD-89A8-79B43C3C61F8}"/>
                </a:ext>
              </a:extLst>
            </p:cNvPr>
            <p:cNvSpPr/>
            <p:nvPr/>
          </p:nvSpPr>
          <p:spPr>
            <a:xfrm rot="15762343">
              <a:off x="6352156" y="5341193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8906691-49D2-FE77-C48F-710BEADDCE2E}"/>
                </a:ext>
              </a:extLst>
            </p:cNvPr>
            <p:cNvSpPr txBox="1"/>
            <p:nvPr/>
          </p:nvSpPr>
          <p:spPr>
            <a:xfrm>
              <a:off x="5930743" y="5420395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1C60B839-EF6C-3C18-0E3B-268982B39441}"/>
                </a:ext>
              </a:extLst>
            </p:cNvPr>
            <p:cNvSpPr txBox="1"/>
            <p:nvPr/>
          </p:nvSpPr>
          <p:spPr>
            <a:xfrm>
              <a:off x="3223049" y="5929490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C705B79F-115A-B6BF-A40C-E7AA11FA6B60}"/>
                </a:ext>
              </a:extLst>
            </p:cNvPr>
            <p:cNvGrpSpPr/>
            <p:nvPr/>
          </p:nvGrpSpPr>
          <p:grpSpPr>
            <a:xfrm>
              <a:off x="7270692" y="4245152"/>
              <a:ext cx="995563" cy="1017879"/>
              <a:chOff x="7408007" y="4411231"/>
              <a:chExt cx="995563" cy="1017879"/>
            </a:xfrm>
          </p:grpSpPr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C2166471-EBBB-BF46-4946-91CE51CA9E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3092" y="4411231"/>
                <a:ext cx="0" cy="1017879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>
                <a:extLst>
                  <a:ext uri="{FF2B5EF4-FFF2-40B4-BE49-F238E27FC236}">
                    <a16:creationId xmlns:a16="http://schemas.microsoft.com/office/drawing/2014/main" id="{F9CECF33-2047-37F3-46B7-AC4A8EF7C4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08007" y="5423232"/>
                <a:ext cx="995563" cy="5878"/>
              </a:xfrm>
              <a:prstGeom prst="straightConnector1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B9A5F10-D0AB-00CC-CD6E-47C8043DB23E}"/>
                </a:ext>
              </a:extLst>
            </p:cNvPr>
            <p:cNvSpPr txBox="1"/>
            <p:nvPr/>
          </p:nvSpPr>
          <p:spPr>
            <a:xfrm>
              <a:off x="3852517" y="5349456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17EBCCD-5DAB-ACE0-182F-EA669D1C7C44}"/>
                </a:ext>
              </a:extLst>
            </p:cNvPr>
            <p:cNvSpPr txBox="1"/>
            <p:nvPr/>
          </p:nvSpPr>
          <p:spPr>
            <a:xfrm>
              <a:off x="5748074" y="4938881"/>
              <a:ext cx="430361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</a:rPr>
                <a:t>1m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FF1AD38B-D4F6-160A-7402-A1ADA46315F4}"/>
                </a:ext>
              </a:extLst>
            </p:cNvPr>
            <p:cNvSpPr txBox="1"/>
            <p:nvPr/>
          </p:nvSpPr>
          <p:spPr>
            <a:xfrm>
              <a:off x="4843447" y="4922802"/>
              <a:ext cx="477937" cy="30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POI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8DEE2DA-B104-5DF4-E027-67DAA0730A09}"/>
              </a:ext>
            </a:extLst>
          </p:cNvPr>
          <p:cNvGrpSpPr/>
          <p:nvPr/>
        </p:nvGrpSpPr>
        <p:grpSpPr>
          <a:xfrm>
            <a:off x="878740" y="31955548"/>
            <a:ext cx="12865795" cy="7501006"/>
            <a:chOff x="13286595" y="-17362990"/>
            <a:chExt cx="12865795" cy="2425001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77F2C195-AB2A-AD44-3D26-7838BB118DB0}"/>
                </a:ext>
              </a:extLst>
            </p:cNvPr>
            <p:cNvSpPr txBox="1"/>
            <p:nvPr/>
          </p:nvSpPr>
          <p:spPr>
            <a:xfrm>
              <a:off x="13362099" y="-17260294"/>
              <a:ext cx="12790291" cy="268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1" b="1" dirty="0"/>
                <a:t>ERROR CORRECTOR DEFINITION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54321389-5684-6405-C5A6-BA215843B208}"/>
                </a:ext>
              </a:extLst>
            </p:cNvPr>
            <p:cNvSpPr/>
            <p:nvPr/>
          </p:nvSpPr>
          <p:spPr>
            <a:xfrm>
              <a:off x="13327904" y="-15670624"/>
              <a:ext cx="12806776" cy="7326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71566" indent="-571566">
                <a:buFont typeface="Arial" panose="020B0604020202020204" pitchFamily="34" charset="0"/>
                <a:buChar char="•"/>
              </a:pPr>
              <a:r>
                <a:rPr lang="en-US" sz="4801" dirty="0">
                  <a:solidFill>
                    <a:schemeClr val="tx1"/>
                  </a:solidFill>
                </a:rPr>
                <a:t>An error corrector is a device used to correct an error with respect to a reference.</a:t>
              </a: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F126E59-AD5F-5DF8-65EF-6B20E7510E08}"/>
                </a:ext>
              </a:extLst>
            </p:cNvPr>
            <p:cNvSpPr/>
            <p:nvPr/>
          </p:nvSpPr>
          <p:spPr>
            <a:xfrm>
              <a:off x="13286595" y="-17362990"/>
              <a:ext cx="12848086" cy="2425001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73F79C4E-9764-2DFB-2E5D-737E8A9B46C3}"/>
                  </a:ext>
                </a:extLst>
              </p:cNvPr>
              <p:cNvSpPr txBox="1"/>
              <p:nvPr/>
            </p:nvSpPr>
            <p:spPr>
              <a:xfrm>
                <a:off x="13999601" y="32126617"/>
                <a:ext cx="12234391" cy="1077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i="1" dirty="0"/>
                  <a:t>FIGURE 4. A 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3200" dirty="0"/>
                  <a:t> error is corrected to 2.5mrad and adds error in Y direction.</a:t>
                </a:r>
              </a:p>
            </p:txBody>
          </p:sp>
        </mc:Choice>
        <mc:Fallback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73F79C4E-9764-2DFB-2E5D-737E8A9B4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9601" y="32126617"/>
                <a:ext cx="12234391" cy="1077216"/>
              </a:xfrm>
              <a:prstGeom prst="rect">
                <a:avLst/>
              </a:prstGeom>
              <a:blipFill>
                <a:blip r:embed="rId28"/>
                <a:stretch>
                  <a:fillRect l="-1296" t="-6780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972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85E670-20E3-1FC9-799E-514317D77218}"/>
              </a:ext>
            </a:extLst>
          </p:cNvPr>
          <p:cNvSpPr>
            <a:spLocks/>
          </p:cNvSpPr>
          <p:nvPr/>
        </p:nvSpPr>
        <p:spPr>
          <a:xfrm>
            <a:off x="4563" y="0"/>
            <a:ext cx="32913837" cy="402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892DD-8E19-49E5-8597-0012EDEBEB0A}"/>
              </a:ext>
            </a:extLst>
          </p:cNvPr>
          <p:cNvSpPr txBox="1"/>
          <p:nvPr/>
        </p:nvSpPr>
        <p:spPr>
          <a:xfrm>
            <a:off x="-7231986" y="263357"/>
            <a:ext cx="40233600" cy="1015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1" b="1" dirty="0"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6001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BC2712-6257-C32A-CF3C-0A2595722ADF}"/>
              </a:ext>
            </a:extLst>
          </p:cNvPr>
          <p:cNvSpPr/>
          <p:nvPr/>
        </p:nvSpPr>
        <p:spPr>
          <a:xfrm>
            <a:off x="924612" y="1800676"/>
            <a:ext cx="12801600" cy="14701930"/>
          </a:xfrm>
          <a:prstGeom prst="rect">
            <a:avLst/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544E9F-DBFA-324A-90D6-3DAA884875EF}"/>
              </a:ext>
            </a:extLst>
          </p:cNvPr>
          <p:cNvSpPr/>
          <p:nvPr/>
        </p:nvSpPr>
        <p:spPr>
          <a:xfrm>
            <a:off x="19192678" y="31955545"/>
            <a:ext cx="12796508" cy="7501007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C7BE0AD-7523-3BB4-B52A-F9EE51A63372}"/>
                  </a:ext>
                </a:extLst>
              </p:cNvPr>
              <p:cNvSpPr/>
              <p:nvPr/>
            </p:nvSpPr>
            <p:spPr>
              <a:xfrm>
                <a:off x="19187503" y="17257562"/>
                <a:ext cx="12843895" cy="182815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85879" indent="-685879">
                  <a:buFont typeface="Arial" panose="020B0604020202020204" pitchFamily="34" charset="0"/>
                  <a:buChar char="•"/>
                </a:pPr>
                <a:r>
                  <a:rPr lang="en-US" sz="4801" dirty="0">
                    <a:solidFill>
                      <a:schemeClr val="tx1"/>
                    </a:solidFill>
                  </a:rPr>
                  <a:t>TolStack output error histograms and </a:t>
                </a:r>
                <a14:m>
                  <m:oMath xmlns:m="http://schemas.openxmlformats.org/officeDocument/2006/math"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480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4801" dirty="0">
                    <a:solidFill>
                      <a:schemeClr val="tx1"/>
                    </a:solidFill>
                  </a:rPr>
                  <a:t> error values indicating correctors are needed.</a:t>
                </a: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C7BE0AD-7523-3BB4-B52A-F9EE51A633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7503" y="17257562"/>
                <a:ext cx="12843895" cy="1828157"/>
              </a:xfrm>
              <a:prstGeom prst="rect">
                <a:avLst/>
              </a:prstGeom>
              <a:blipFill>
                <a:blip r:embed="rId2"/>
                <a:stretch>
                  <a:fillRect l="-1994" r="-1614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AFB00C15-43B1-8676-AB0D-C4391E0E2B4A}"/>
              </a:ext>
            </a:extLst>
          </p:cNvPr>
          <p:cNvSpPr txBox="1"/>
          <p:nvPr/>
        </p:nvSpPr>
        <p:spPr>
          <a:xfrm>
            <a:off x="19141102" y="2104053"/>
            <a:ext cx="12772097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SAMPLE APPLICATION: OPTIC ALIGNMENT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8F92F1E-91F0-F1DF-593E-42BB4120DA03}"/>
              </a:ext>
            </a:extLst>
          </p:cNvPr>
          <p:cNvGrpSpPr>
            <a:grpSpLocks noChangeAspect="1"/>
          </p:cNvGrpSpPr>
          <p:nvPr/>
        </p:nvGrpSpPr>
        <p:grpSpPr>
          <a:xfrm>
            <a:off x="19454683" y="5668132"/>
            <a:ext cx="11723618" cy="5116402"/>
            <a:chOff x="16329263" y="-10169129"/>
            <a:chExt cx="6001614" cy="2619214"/>
          </a:xfrm>
        </p:grpSpPr>
        <p:pic>
          <p:nvPicPr>
            <p:cNvPr id="258" name="Picture 257">
              <a:extLst>
                <a:ext uri="{FF2B5EF4-FFF2-40B4-BE49-F238E27FC236}">
                  <a16:creationId xmlns:a16="http://schemas.microsoft.com/office/drawing/2014/main" id="{1FB2EB7C-406E-C73D-C65A-23E7193B0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29263" y="-10169129"/>
              <a:ext cx="6001614" cy="2189185"/>
            </a:xfrm>
            <a:prstGeom prst="rect">
              <a:avLst/>
            </a:prstGeom>
          </p:spPr>
        </p:pic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223E40E1-119B-3354-694C-25B84BC194AE}"/>
                </a:ext>
              </a:extLst>
            </p:cNvPr>
            <p:cNvSpPr/>
            <p:nvPr/>
          </p:nvSpPr>
          <p:spPr>
            <a:xfrm>
              <a:off x="16846267" y="-7921407"/>
              <a:ext cx="2041171" cy="3714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i="1" dirty="0">
                  <a:solidFill>
                    <a:schemeClr val="tx1"/>
                  </a:solidFill>
                </a:rPr>
                <a:t>Ray Trace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A4AD5B66-63DE-624C-15B2-B434F9CFB883}"/>
                </a:ext>
              </a:extLst>
            </p:cNvPr>
            <p:cNvSpPr/>
            <p:nvPr/>
          </p:nvSpPr>
          <p:spPr>
            <a:xfrm>
              <a:off x="19446704" y="-7927700"/>
              <a:ext cx="2152782" cy="3745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i="1" dirty="0">
                  <a:solidFill>
                    <a:schemeClr val="tx1"/>
                  </a:solidFill>
                </a:rPr>
                <a:t>Transform Path</a:t>
              </a:r>
            </a:p>
          </p:txBody>
        </p:sp>
      </p:grpSp>
      <p:sp>
        <p:nvSpPr>
          <p:cNvPr id="261" name="Rectangle 260">
            <a:extLst>
              <a:ext uri="{FF2B5EF4-FFF2-40B4-BE49-F238E27FC236}">
                <a16:creationId xmlns:a16="http://schemas.microsoft.com/office/drawing/2014/main" id="{761D22B4-1FED-6CAB-8EB9-206E02A09D35}"/>
              </a:ext>
            </a:extLst>
          </p:cNvPr>
          <p:cNvSpPr/>
          <p:nvPr/>
        </p:nvSpPr>
        <p:spPr>
          <a:xfrm>
            <a:off x="19346562" y="3084973"/>
            <a:ext cx="12420011" cy="1987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1" b="1" dirty="0"/>
              <a:t>Task</a:t>
            </a:r>
            <a:r>
              <a:rPr lang="en-US" sz="4001" dirty="0"/>
              <a:t>: Determine if the focusing optics of this telescope can be assembled with respect to mechanical datums using mechanical tolerances or require alignment.</a:t>
            </a:r>
          </a:p>
          <a:p>
            <a:endParaRPr lang="en-US" sz="4001" dirty="0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9CA3DE2-740E-C45B-991F-AB22D7C38C90}"/>
              </a:ext>
            </a:extLst>
          </p:cNvPr>
          <p:cNvGrpSpPr/>
          <p:nvPr/>
        </p:nvGrpSpPr>
        <p:grpSpPr>
          <a:xfrm>
            <a:off x="19409954" y="12113135"/>
            <a:ext cx="12350524" cy="3732072"/>
            <a:chOff x="13630775" y="2811071"/>
            <a:chExt cx="12350524" cy="3732072"/>
          </a:xfrm>
        </p:grpSpPr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219015A8-CE33-2922-18DA-F29B1EDF4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2811071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4B2CEC6-67B0-E57D-F48F-C8175011B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3655414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AF86E4E3-B21F-CE2A-2CBB-A326ABADD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7630" y="4501940"/>
              <a:ext cx="3340609" cy="8336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42B26B86-753B-7AAF-5335-8467759C35E0}"/>
                </a:ext>
              </a:extLst>
            </p:cNvPr>
            <p:cNvSpPr/>
            <p:nvPr/>
          </p:nvSpPr>
          <p:spPr>
            <a:xfrm>
              <a:off x="13906500" y="3082050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CS1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44D28819-D5A5-6274-BAB0-81EB7FA9D7C9}"/>
                </a:ext>
              </a:extLst>
            </p:cNvPr>
            <p:cNvSpPr/>
            <p:nvPr/>
          </p:nvSpPr>
          <p:spPr>
            <a:xfrm>
              <a:off x="13906500" y="3930449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CS2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CB959CFC-8D4D-5147-E7B4-235B02D15A25}"/>
                </a:ext>
              </a:extLst>
            </p:cNvPr>
            <p:cNvSpPr/>
            <p:nvPr/>
          </p:nvSpPr>
          <p:spPr>
            <a:xfrm>
              <a:off x="13906500" y="4753539"/>
              <a:ext cx="2024072" cy="3623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CS3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F1D161AA-A303-784D-787E-EA5F4EB75C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630775" y="5439456"/>
              <a:ext cx="6114014" cy="1103687"/>
              <a:chOff x="4613847" y="-210752"/>
              <a:chExt cx="6706380" cy="1210619"/>
            </a:xfrm>
          </p:grpSpPr>
          <p:pic>
            <p:nvPicPr>
              <p:cNvPr id="271" name="Picture 270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530C5417-EE76-AEB4-B5F8-28DA769B21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13847" y="-210752"/>
                <a:ext cx="6706380" cy="119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D1ED2EA5-F337-8766-608C-7973EE422FE5}"/>
                  </a:ext>
                </a:extLst>
              </p:cNvPr>
              <p:cNvSpPr/>
              <p:nvPr/>
            </p:nvSpPr>
            <p:spPr>
              <a:xfrm>
                <a:off x="7608438" y="764908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9FCF6C77-796E-A73B-EE0B-0D93403CB6ED}"/>
                  </a:ext>
                </a:extLst>
              </p:cNvPr>
              <p:cNvSpPr/>
              <p:nvPr/>
            </p:nvSpPr>
            <p:spPr>
              <a:xfrm>
                <a:off x="7608438" y="548501"/>
                <a:ext cx="3030851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C232B952-288A-BC8C-ABFE-7CE9FACDD887}"/>
                  </a:ext>
                </a:extLst>
              </p:cNvPr>
              <p:cNvSpPr/>
              <p:nvPr/>
            </p:nvSpPr>
            <p:spPr>
              <a:xfrm>
                <a:off x="7608438" y="328811"/>
                <a:ext cx="1260418" cy="2349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8EAF7DB2-01E5-4B06-EB47-37F514FCE34E}"/>
                </a:ext>
              </a:extLst>
            </p:cNvPr>
            <p:cNvSpPr/>
            <p:nvPr/>
          </p:nvSpPr>
          <p:spPr>
            <a:xfrm>
              <a:off x="19602528" y="3364492"/>
              <a:ext cx="6378771" cy="13920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1" b="1" dirty="0">
                  <a:solidFill>
                    <a:schemeClr val="tx1"/>
                  </a:solidFill>
                </a:rPr>
                <a:t>Requirements not met</a:t>
              </a:r>
            </a:p>
            <a:p>
              <a:pPr algn="ctr"/>
              <a:r>
                <a:rPr lang="en-US" sz="4001" b="1" dirty="0">
                  <a:solidFill>
                    <a:schemeClr val="tx1"/>
                  </a:solidFill>
                </a:rPr>
                <a:t>Correctors Needed</a:t>
              </a:r>
            </a:p>
          </p:txBody>
        </p:sp>
      </p:grpSp>
      <p:pic>
        <p:nvPicPr>
          <p:cNvPr id="275" name="Picture 274">
            <a:extLst>
              <a:ext uri="{FF2B5EF4-FFF2-40B4-BE49-F238E27FC236}">
                <a16:creationId xmlns:a16="http://schemas.microsoft.com/office/drawing/2014/main" id="{882D2CCF-90B3-2C0B-242C-70BBBFEEC6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12773" y="5396521"/>
            <a:ext cx="6553800" cy="4429604"/>
          </a:xfrm>
          <a:prstGeom prst="rect">
            <a:avLst/>
          </a:prstGeom>
        </p:spPr>
      </p:pic>
      <p:sp>
        <p:nvSpPr>
          <p:cNvPr id="276" name="TextBox 275">
            <a:extLst>
              <a:ext uri="{FF2B5EF4-FFF2-40B4-BE49-F238E27FC236}">
                <a16:creationId xmlns:a16="http://schemas.microsoft.com/office/drawing/2014/main" id="{9D2803A7-7EB4-8BEB-38D9-FA0F311ED834}"/>
              </a:ext>
            </a:extLst>
          </p:cNvPr>
          <p:cNvSpPr txBox="1"/>
          <p:nvPr/>
        </p:nvSpPr>
        <p:spPr>
          <a:xfrm>
            <a:off x="19409954" y="11118202"/>
            <a:ext cx="12234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5. Sample optical system under evaluation.</a:t>
            </a:r>
            <a:endParaRPr lang="en-US" sz="3200" dirty="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323E11AC-2E2E-7EBF-4809-FCFB3DAFBD1E}"/>
              </a:ext>
            </a:extLst>
          </p:cNvPr>
          <p:cNvSpPr txBox="1"/>
          <p:nvPr/>
        </p:nvSpPr>
        <p:spPr>
          <a:xfrm>
            <a:off x="19284520" y="16034506"/>
            <a:ext cx="12234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6. Without any correction or adjusters, the requirements are not met so correctors are required to align the optics.</a:t>
            </a:r>
            <a:endParaRPr lang="en-US" sz="3200" dirty="0"/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38EBD220-EA05-0B9F-1F03-E4130FB951E0}"/>
              </a:ext>
            </a:extLst>
          </p:cNvPr>
          <p:cNvGrpSpPr/>
          <p:nvPr/>
        </p:nvGrpSpPr>
        <p:grpSpPr>
          <a:xfrm>
            <a:off x="20400554" y="19495877"/>
            <a:ext cx="10813558" cy="7488619"/>
            <a:chOff x="2387886" y="-1106610"/>
            <a:chExt cx="10813558" cy="7488619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889B7F0D-39AF-3B94-218D-D131D58D9A4E}"/>
                </a:ext>
              </a:extLst>
            </p:cNvPr>
            <p:cNvSpPr/>
            <p:nvPr/>
          </p:nvSpPr>
          <p:spPr>
            <a:xfrm>
              <a:off x="2387886" y="-431430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CS1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6799F7F1-AC83-C267-F353-19F0823F0FBD}"/>
                </a:ext>
              </a:extLst>
            </p:cNvPr>
            <p:cNvSpPr/>
            <p:nvPr/>
          </p:nvSpPr>
          <p:spPr>
            <a:xfrm>
              <a:off x="2387886" y="1308308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CS2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A3553540-AF5E-B0C6-53EB-FC309152EB88}"/>
                </a:ext>
              </a:extLst>
            </p:cNvPr>
            <p:cNvSpPr/>
            <p:nvPr/>
          </p:nvSpPr>
          <p:spPr>
            <a:xfrm>
              <a:off x="2387886" y="3048046"/>
              <a:ext cx="1851300" cy="445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CS0</a:t>
              </a:r>
              <a:r>
                <a:rPr lang="en-US" sz="2400" b="1" dirty="0">
                  <a:solidFill>
                    <a:schemeClr val="tx1"/>
                  </a:solidFill>
                  <a:latin typeface="Abadi" panose="020B0604020104020204" pitchFamily="34" charset="0"/>
                  <a:sym typeface="Wingdings" panose="05000000000000000000" pitchFamily="2" charset="2"/>
                </a:rPr>
                <a:t>CS3</a:t>
              </a:r>
              <a:endParaRPr lang="en-US" sz="2400" b="1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282" name="Picture 281">
              <a:extLst>
                <a:ext uri="{FF2B5EF4-FFF2-40B4-BE49-F238E27FC236}">
                  <a16:creationId xmlns:a16="http://schemas.microsoft.com/office/drawing/2014/main" id="{2C17EF4A-0A70-7987-8CB4-DB9875E1A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9" y="-1106610"/>
              <a:ext cx="6971865" cy="1681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283" name="Picture 282">
              <a:extLst>
                <a:ext uri="{FF2B5EF4-FFF2-40B4-BE49-F238E27FC236}">
                  <a16:creationId xmlns:a16="http://schemas.microsoft.com/office/drawing/2014/main" id="{47F2F2C2-8FE7-D542-452D-7C257C966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9" y="574770"/>
              <a:ext cx="6971865" cy="16984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284" name="Picture 283">
              <a:extLst>
                <a:ext uri="{FF2B5EF4-FFF2-40B4-BE49-F238E27FC236}">
                  <a16:creationId xmlns:a16="http://schemas.microsoft.com/office/drawing/2014/main" id="{64DB3C08-0779-2BBA-D64D-5E20BE32B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08" y="2275579"/>
              <a:ext cx="6971865" cy="17226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926387D8-1E6E-D6FE-2785-6B04F4812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87947" y="4606553"/>
              <a:ext cx="6372225" cy="342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86" name="Picture 285">
              <a:extLst>
                <a:ext uri="{FF2B5EF4-FFF2-40B4-BE49-F238E27FC236}">
                  <a16:creationId xmlns:a16="http://schemas.microsoft.com/office/drawing/2014/main" id="{1A95CD5E-8E85-62C3-9126-E787CF00B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87947" y="4963071"/>
              <a:ext cx="6372224" cy="3714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4F7A3D5D-85C3-AC03-EB78-B4176FBCC622}"/>
                </a:ext>
              </a:extLst>
            </p:cNvPr>
            <p:cNvSpPr/>
            <p:nvPr/>
          </p:nvSpPr>
          <p:spPr>
            <a:xfrm>
              <a:off x="10027916" y="5306920"/>
              <a:ext cx="3173528" cy="107508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Requirements met</a:t>
              </a:r>
            </a:p>
          </p:txBody>
        </p:sp>
        <p:pic>
          <p:nvPicPr>
            <p:cNvPr id="288" name="Picture 287">
              <a:extLst>
                <a:ext uri="{FF2B5EF4-FFF2-40B4-BE49-F238E27FC236}">
                  <a16:creationId xmlns:a16="http://schemas.microsoft.com/office/drawing/2014/main" id="{FE663C0E-4AB9-A627-7362-D322F79F9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87947" y="4262337"/>
              <a:ext cx="6372224" cy="3524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7358997F-2F71-C3AF-CF5C-0C611D55A956}"/>
                </a:ext>
              </a:extLst>
            </p:cNvPr>
            <p:cNvSpPr/>
            <p:nvPr/>
          </p:nvSpPr>
          <p:spPr>
            <a:xfrm>
              <a:off x="5340662" y="4248719"/>
              <a:ext cx="1114502" cy="20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4BFB9959-2524-6074-D755-10D485C92FA2}"/>
                </a:ext>
              </a:extLst>
            </p:cNvPr>
            <p:cNvSpPr/>
            <p:nvPr/>
          </p:nvSpPr>
          <p:spPr>
            <a:xfrm>
              <a:off x="5340662" y="4593893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AA6D4A7-AA01-5127-21D3-F68B9DB92BD6}"/>
                </a:ext>
              </a:extLst>
            </p:cNvPr>
            <p:cNvSpPr/>
            <p:nvPr/>
          </p:nvSpPr>
          <p:spPr>
            <a:xfrm>
              <a:off x="5340662" y="4980207"/>
              <a:ext cx="2826570" cy="177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i="1" dirty="0">
                <a:solidFill>
                  <a:schemeClr val="tx1"/>
                </a:solidFill>
              </a:endParaRPr>
            </a:p>
          </p:txBody>
        </p: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A7A77532-1388-12C7-114A-84B5744CC964}"/>
                </a:ext>
              </a:extLst>
            </p:cNvPr>
            <p:cNvCxnSpPr>
              <a:cxnSpLocks/>
              <a:stCxn id="287" idx="1"/>
              <a:endCxn id="293" idx="3"/>
            </p:cNvCxnSpPr>
            <p:nvPr/>
          </p:nvCxnSpPr>
          <p:spPr>
            <a:xfrm flipH="1" flipV="1">
              <a:off x="8760172" y="5819652"/>
              <a:ext cx="1267744" cy="2481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93" name="Picture 292">
              <a:extLst>
                <a:ext uri="{FF2B5EF4-FFF2-40B4-BE49-F238E27FC236}">
                  <a16:creationId xmlns:a16="http://schemas.microsoft.com/office/drawing/2014/main" id="{490D11C0-0CB0-57BC-8DDC-21D7E59E9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387948" y="5348164"/>
              <a:ext cx="6372224" cy="9429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083C94EE-B2A9-53B9-5CAD-5EE52B0FFC2C}"/>
                </a:ext>
              </a:extLst>
            </p:cNvPr>
            <p:cNvSpPr/>
            <p:nvPr/>
          </p:nvSpPr>
          <p:spPr>
            <a:xfrm>
              <a:off x="9532559" y="4121464"/>
              <a:ext cx="2929956" cy="8856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Correctors Used</a:t>
              </a:r>
            </a:p>
          </p:txBody>
        </p: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BA11F7B6-A498-D8B0-4864-162D4AD339F7}"/>
                </a:ext>
              </a:extLst>
            </p:cNvPr>
            <p:cNvCxnSpPr>
              <a:cxnSpLocks/>
              <a:stCxn id="294" idx="1"/>
              <a:endCxn id="285" idx="3"/>
            </p:cNvCxnSpPr>
            <p:nvPr/>
          </p:nvCxnSpPr>
          <p:spPr>
            <a:xfrm flipH="1">
              <a:off x="8760172" y="4564312"/>
              <a:ext cx="772387" cy="2136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6" name="TextBox 295">
            <a:extLst>
              <a:ext uri="{FF2B5EF4-FFF2-40B4-BE49-F238E27FC236}">
                <a16:creationId xmlns:a16="http://schemas.microsoft.com/office/drawing/2014/main" id="{7F3B14F9-A5AF-0AAE-69A6-66315D014DBD}"/>
              </a:ext>
            </a:extLst>
          </p:cNvPr>
          <p:cNvSpPr txBox="1"/>
          <p:nvPr/>
        </p:nvSpPr>
        <p:spPr>
          <a:xfrm>
            <a:off x="19489953" y="27357224"/>
            <a:ext cx="12234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FIGURE 7. Using correctors, the requirements are met and decreased the standard deviation shown by width of the distributions.</a:t>
            </a:r>
            <a:endParaRPr lang="en-US" sz="32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78B85D28-58EE-4453-210D-49C8AFE2BF9E}"/>
              </a:ext>
            </a:extLst>
          </p:cNvPr>
          <p:cNvSpPr/>
          <p:nvPr/>
        </p:nvSpPr>
        <p:spPr>
          <a:xfrm>
            <a:off x="19225114" y="28748924"/>
            <a:ext cx="12764072" cy="3206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79" indent="-685879">
              <a:buFont typeface="Arial" panose="020B0604020202020204" pitchFamily="34" charset="0"/>
              <a:buChar char="•"/>
            </a:pPr>
            <a:r>
              <a:rPr lang="en-US" sz="4801" dirty="0">
                <a:solidFill>
                  <a:schemeClr val="tx1"/>
                </a:solidFill>
              </a:rPr>
              <a:t>Using correctors, the error is reduced but not eliminated entirely due to coupled motion.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FFC3D4C6-1F07-26A2-04E6-612135D48836}"/>
              </a:ext>
            </a:extLst>
          </p:cNvPr>
          <p:cNvSpPr/>
          <p:nvPr/>
        </p:nvSpPr>
        <p:spPr>
          <a:xfrm>
            <a:off x="19192188" y="1800676"/>
            <a:ext cx="12801600" cy="3015487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4C4D09D4-C4E7-9E61-E2EA-8069509D0DBF}"/>
              </a:ext>
            </a:extLst>
          </p:cNvPr>
          <p:cNvSpPr txBox="1"/>
          <p:nvPr/>
        </p:nvSpPr>
        <p:spPr>
          <a:xfrm>
            <a:off x="19346562" y="33734166"/>
            <a:ext cx="12764074" cy="4524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3038" indent="-743038">
              <a:buFont typeface="+mj-lt"/>
              <a:buAutoNum type="arabicPeriod"/>
            </a:pPr>
            <a:r>
              <a:rPr lang="en-US" sz="3200" dirty="0"/>
              <a:t>2025 Joint Committee for Guides in Metrology. Evaluation of measurement data – Guide to the expression of uncertainty in measurement. 2008.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3200" dirty="0"/>
              <a:t>T. A. Seawright, </a:t>
            </a:r>
            <a:r>
              <a:rPr lang="en-US" sz="3200" dirty="0" err="1"/>
              <a:t>TolStack</a:t>
            </a:r>
            <a:r>
              <a:rPr lang="en-US" sz="3200" dirty="0"/>
              <a:t> V1.0 [Computer Software]. 2025. </a:t>
            </a:r>
            <a:r>
              <a:rPr lang="en-US" sz="3200" u="sng" dirty="0">
                <a:hlinkClick r:id="rId16" tooltip="https://github.com/tylerseawright/tolstack"/>
              </a:rPr>
              <a:t>https://github.com/TylerSeawright/TolStack</a:t>
            </a:r>
            <a:endParaRPr lang="en-US" sz="3200" dirty="0"/>
          </a:p>
          <a:p>
            <a:pPr marL="743038" indent="-743038">
              <a:buFont typeface="+mj-lt"/>
              <a:buAutoNum type="arabicPeriod"/>
            </a:pPr>
            <a:r>
              <a:rPr lang="en-US" sz="3200" dirty="0"/>
              <a:t>A. H. Slocum, Precision Machine Design. Prentice-Hall, Inc., 1992.</a:t>
            </a:r>
          </a:p>
          <a:p>
            <a:pPr marL="743038" indent="-743038">
              <a:buFont typeface="+mj-lt"/>
              <a:buAutoNum type="arabicPeriod"/>
            </a:pPr>
            <a:r>
              <a:rPr lang="en-US" sz="3200" dirty="0" err="1"/>
              <a:t>Duenner</a:t>
            </a:r>
            <a:r>
              <a:rPr lang="en-US" sz="3200" dirty="0"/>
              <a:t>, Andrew C. An Error Budgeting Framework for Engineering Design. Massachusetts Institute of Technology. 2019. </a:t>
            </a:r>
          </a:p>
          <a:p>
            <a:pPr marL="743038" indent="-743038">
              <a:buFont typeface="+mj-lt"/>
              <a:buAutoNum type="arabicPeriod"/>
            </a:pPr>
            <a:endParaRPr lang="en-US" sz="3200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7AB814D-77B8-816B-2464-15565CD86940}"/>
              </a:ext>
            </a:extLst>
          </p:cNvPr>
          <p:cNvSpPr txBox="1"/>
          <p:nvPr/>
        </p:nvSpPr>
        <p:spPr>
          <a:xfrm>
            <a:off x="22261531" y="32258923"/>
            <a:ext cx="6691236" cy="831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1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529040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715</Words>
  <Application>Microsoft Office PowerPoint</Application>
  <PresentationFormat>Custom</PresentationFormat>
  <Paragraphs>161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Abadi</vt:lpstr>
      <vt:lpstr>Aptos</vt:lpstr>
      <vt:lpstr>Aptos Display</vt:lpstr>
      <vt:lpstr>Arial</vt:lpstr>
      <vt:lpstr>Cambria Math</vt:lpstr>
      <vt:lpstr>Univers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1</cp:revision>
  <dcterms:created xsi:type="dcterms:W3CDTF">2025-10-22T19:38:44Z</dcterms:created>
  <dcterms:modified xsi:type="dcterms:W3CDTF">2025-10-22T19:47:25Z</dcterms:modified>
</cp:coreProperties>
</file>